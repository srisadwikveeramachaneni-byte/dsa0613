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9" r:id="rId3"/>
    <p:sldId id="257" r:id="rId4"/>
    <p:sldId id="258" r:id="rId5"/>
    <p:sldId id="259" r:id="rId6"/>
    <p:sldId id="260" r:id="rId7"/>
    <p:sldId id="261" r:id="rId8"/>
    <p:sldId id="267" r:id="rId9"/>
    <p:sldId id="268" r:id="rId10"/>
    <p:sldId id="262" r:id="rId11"/>
    <p:sldId id="263" r:id="rId12"/>
    <p:sldId id="264" r:id="rId13"/>
    <p:sldId id="265" r:id="rId14"/>
    <p:sldId id="26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accent1">
        <a:lumMod val="60000"/>
        <a:lumOff val="40000"/>
      </a:schemeClr>
    </p:penClr>
    <p:extLst>
      <p:ext uri="{EC167BDD-8182-4AB7-AECC-EB403E3ABB37}">
        <p14:laserClr xmlns:p14="http://schemas.microsoft.com/office/powerpoint/2010/main">
          <a:srgbClr val="0000FF"/>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AFB91-0BDF-2770-2DB8-8D9B6F890AF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37990E-422F-3BAD-5137-03A04C54D3A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E68F2CA-45B7-BB95-3887-9724EDA8D8BE}"/>
              </a:ext>
            </a:extLst>
          </p:cNvPr>
          <p:cNvSpPr>
            <a:spLocks noGrp="1"/>
          </p:cNvSpPr>
          <p:nvPr>
            <p:ph type="dt" sz="half" idx="10"/>
          </p:nvPr>
        </p:nvSpPr>
        <p:spPr/>
        <p:txBody>
          <a:bodyPr/>
          <a:lstStyle/>
          <a:p>
            <a:fld id="{7C113B9D-CA14-452A-BDFB-733C01772E27}" type="datetimeFigureOut">
              <a:rPr lang="en-US" smtClean="0"/>
              <a:t>1/29/2026</a:t>
            </a:fld>
            <a:endParaRPr lang="en-US"/>
          </a:p>
        </p:txBody>
      </p:sp>
      <p:sp>
        <p:nvSpPr>
          <p:cNvPr id="5" name="Footer Placeholder 4">
            <a:extLst>
              <a:ext uri="{FF2B5EF4-FFF2-40B4-BE49-F238E27FC236}">
                <a16:creationId xmlns:a16="http://schemas.microsoft.com/office/drawing/2014/main" id="{6A4CB0A2-434B-8B17-04FC-019A6F0DDD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E79FB1-37C2-390D-C786-28FC8934C5B1}"/>
              </a:ext>
            </a:extLst>
          </p:cNvPr>
          <p:cNvSpPr>
            <a:spLocks noGrp="1"/>
          </p:cNvSpPr>
          <p:nvPr>
            <p:ph type="sldNum" sz="quarter" idx="12"/>
          </p:nvPr>
        </p:nvSpPr>
        <p:spPr/>
        <p:txBody>
          <a:bodyPr/>
          <a:lstStyle/>
          <a:p>
            <a:fld id="{38393E42-2B9C-49DA-AE07-5E6C4D5C671B}" type="slidenum">
              <a:rPr lang="en-US" smtClean="0"/>
              <a:t>‹#›</a:t>
            </a:fld>
            <a:endParaRPr lang="en-US"/>
          </a:p>
        </p:txBody>
      </p:sp>
    </p:spTree>
    <p:extLst>
      <p:ext uri="{BB962C8B-B14F-4D97-AF65-F5344CB8AC3E}">
        <p14:creationId xmlns:p14="http://schemas.microsoft.com/office/powerpoint/2010/main" val="24938028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25E3F-CD42-D1DE-B371-05C214BE23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9A9445-B0C9-37FA-0D9B-E93798B36BB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0C8BB5-723F-67F4-C39B-FA9A00138089}"/>
              </a:ext>
            </a:extLst>
          </p:cNvPr>
          <p:cNvSpPr>
            <a:spLocks noGrp="1"/>
          </p:cNvSpPr>
          <p:nvPr>
            <p:ph type="dt" sz="half" idx="10"/>
          </p:nvPr>
        </p:nvSpPr>
        <p:spPr/>
        <p:txBody>
          <a:bodyPr/>
          <a:lstStyle/>
          <a:p>
            <a:fld id="{7C113B9D-CA14-452A-BDFB-733C01772E27}" type="datetimeFigureOut">
              <a:rPr lang="en-US" smtClean="0"/>
              <a:t>1/29/2026</a:t>
            </a:fld>
            <a:endParaRPr lang="en-US"/>
          </a:p>
        </p:txBody>
      </p:sp>
      <p:sp>
        <p:nvSpPr>
          <p:cNvPr id="5" name="Footer Placeholder 4">
            <a:extLst>
              <a:ext uri="{FF2B5EF4-FFF2-40B4-BE49-F238E27FC236}">
                <a16:creationId xmlns:a16="http://schemas.microsoft.com/office/drawing/2014/main" id="{03F9D84C-EC72-4BAA-F98D-4098D2A760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C1EA9C-879D-76BD-FFEB-87115A633877}"/>
              </a:ext>
            </a:extLst>
          </p:cNvPr>
          <p:cNvSpPr>
            <a:spLocks noGrp="1"/>
          </p:cNvSpPr>
          <p:nvPr>
            <p:ph type="sldNum" sz="quarter" idx="12"/>
          </p:nvPr>
        </p:nvSpPr>
        <p:spPr/>
        <p:txBody>
          <a:bodyPr/>
          <a:lstStyle/>
          <a:p>
            <a:fld id="{38393E42-2B9C-49DA-AE07-5E6C4D5C671B}" type="slidenum">
              <a:rPr lang="en-US" smtClean="0"/>
              <a:t>‹#›</a:t>
            </a:fld>
            <a:endParaRPr lang="en-US"/>
          </a:p>
        </p:txBody>
      </p:sp>
    </p:spTree>
    <p:extLst>
      <p:ext uri="{BB962C8B-B14F-4D97-AF65-F5344CB8AC3E}">
        <p14:creationId xmlns:p14="http://schemas.microsoft.com/office/powerpoint/2010/main" val="40636444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EC48F-C00E-3933-C5D5-9989DCCB2BF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486B4F2-39A3-3FFE-5052-4CD5B8DE657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4706597-1FC0-5486-1280-567934E65956}"/>
              </a:ext>
            </a:extLst>
          </p:cNvPr>
          <p:cNvSpPr>
            <a:spLocks noGrp="1"/>
          </p:cNvSpPr>
          <p:nvPr>
            <p:ph type="dt" sz="half" idx="10"/>
          </p:nvPr>
        </p:nvSpPr>
        <p:spPr/>
        <p:txBody>
          <a:bodyPr/>
          <a:lstStyle/>
          <a:p>
            <a:fld id="{7C113B9D-CA14-452A-BDFB-733C01772E27}" type="datetimeFigureOut">
              <a:rPr lang="en-US" smtClean="0"/>
              <a:t>1/29/2026</a:t>
            </a:fld>
            <a:endParaRPr lang="en-US"/>
          </a:p>
        </p:txBody>
      </p:sp>
      <p:sp>
        <p:nvSpPr>
          <p:cNvPr id="5" name="Footer Placeholder 4">
            <a:extLst>
              <a:ext uri="{FF2B5EF4-FFF2-40B4-BE49-F238E27FC236}">
                <a16:creationId xmlns:a16="http://schemas.microsoft.com/office/drawing/2014/main" id="{C91232E3-8551-B577-A942-F03C88C5C4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3163FE-4D3D-492A-52BB-27047721F63C}"/>
              </a:ext>
            </a:extLst>
          </p:cNvPr>
          <p:cNvSpPr>
            <a:spLocks noGrp="1"/>
          </p:cNvSpPr>
          <p:nvPr>
            <p:ph type="sldNum" sz="quarter" idx="12"/>
          </p:nvPr>
        </p:nvSpPr>
        <p:spPr/>
        <p:txBody>
          <a:bodyPr/>
          <a:lstStyle/>
          <a:p>
            <a:fld id="{38393E42-2B9C-49DA-AE07-5E6C4D5C671B}" type="slidenum">
              <a:rPr lang="en-US" smtClean="0"/>
              <a:t>‹#›</a:t>
            </a:fld>
            <a:endParaRPr lang="en-US"/>
          </a:p>
        </p:txBody>
      </p:sp>
    </p:spTree>
    <p:extLst>
      <p:ext uri="{BB962C8B-B14F-4D97-AF65-F5344CB8AC3E}">
        <p14:creationId xmlns:p14="http://schemas.microsoft.com/office/powerpoint/2010/main" val="600233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E4CDC-D48E-36FF-A8FA-B7EED111D1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5EB22E-0531-070E-11A0-831BC11D0F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C7DA3C8-2DB8-AE65-C416-9B6CD8A7452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1C8B3DA-3652-0CE8-99BA-A382AAD7E774}"/>
              </a:ext>
            </a:extLst>
          </p:cNvPr>
          <p:cNvSpPr>
            <a:spLocks noGrp="1"/>
          </p:cNvSpPr>
          <p:nvPr>
            <p:ph type="dt" sz="half" idx="10"/>
          </p:nvPr>
        </p:nvSpPr>
        <p:spPr/>
        <p:txBody>
          <a:bodyPr/>
          <a:lstStyle/>
          <a:p>
            <a:fld id="{7C113B9D-CA14-452A-BDFB-733C01772E27}" type="datetimeFigureOut">
              <a:rPr lang="en-US" smtClean="0"/>
              <a:t>1/29/2026</a:t>
            </a:fld>
            <a:endParaRPr lang="en-US"/>
          </a:p>
        </p:txBody>
      </p:sp>
      <p:sp>
        <p:nvSpPr>
          <p:cNvPr id="6" name="Footer Placeholder 5">
            <a:extLst>
              <a:ext uri="{FF2B5EF4-FFF2-40B4-BE49-F238E27FC236}">
                <a16:creationId xmlns:a16="http://schemas.microsoft.com/office/drawing/2014/main" id="{71812EA4-0DD9-CEDA-E1E8-96DFD2452C1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9ECFA3-9A6E-BBE9-3628-D54BFE7C8A0A}"/>
              </a:ext>
            </a:extLst>
          </p:cNvPr>
          <p:cNvSpPr>
            <a:spLocks noGrp="1"/>
          </p:cNvSpPr>
          <p:nvPr>
            <p:ph type="sldNum" sz="quarter" idx="12"/>
          </p:nvPr>
        </p:nvSpPr>
        <p:spPr/>
        <p:txBody>
          <a:bodyPr/>
          <a:lstStyle/>
          <a:p>
            <a:fld id="{38393E42-2B9C-49DA-AE07-5E6C4D5C671B}" type="slidenum">
              <a:rPr lang="en-US" smtClean="0"/>
              <a:t>‹#›</a:t>
            </a:fld>
            <a:endParaRPr lang="en-US"/>
          </a:p>
        </p:txBody>
      </p:sp>
    </p:spTree>
    <p:extLst>
      <p:ext uri="{BB962C8B-B14F-4D97-AF65-F5344CB8AC3E}">
        <p14:creationId xmlns:p14="http://schemas.microsoft.com/office/powerpoint/2010/main" val="3795966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19E38-C6D3-16F7-4BD6-57D7FA04420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E1EAADD-62A8-71C4-5E2D-8882F0AA84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88B7FE4-C3EB-D2A4-6551-BA0C61A59AA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ABD7DA3-9C25-6C25-EB76-B7D0ECA6BD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3CA66BF-1349-5D37-D2D8-093AAA19D53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1AB9BA2-ECE5-BBB8-39F4-E1BEDEB44A47}"/>
              </a:ext>
            </a:extLst>
          </p:cNvPr>
          <p:cNvSpPr>
            <a:spLocks noGrp="1"/>
          </p:cNvSpPr>
          <p:nvPr>
            <p:ph type="dt" sz="half" idx="10"/>
          </p:nvPr>
        </p:nvSpPr>
        <p:spPr/>
        <p:txBody>
          <a:bodyPr/>
          <a:lstStyle/>
          <a:p>
            <a:fld id="{7C113B9D-CA14-452A-BDFB-733C01772E27}" type="datetimeFigureOut">
              <a:rPr lang="en-US" smtClean="0"/>
              <a:t>1/29/2026</a:t>
            </a:fld>
            <a:endParaRPr lang="en-US"/>
          </a:p>
        </p:txBody>
      </p:sp>
      <p:sp>
        <p:nvSpPr>
          <p:cNvPr id="8" name="Footer Placeholder 7">
            <a:extLst>
              <a:ext uri="{FF2B5EF4-FFF2-40B4-BE49-F238E27FC236}">
                <a16:creationId xmlns:a16="http://schemas.microsoft.com/office/drawing/2014/main" id="{E6E9D2F5-1B00-8DDE-8131-94942FAE589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1C1603D-0284-0151-57D6-C76C6A48DC03}"/>
              </a:ext>
            </a:extLst>
          </p:cNvPr>
          <p:cNvSpPr>
            <a:spLocks noGrp="1"/>
          </p:cNvSpPr>
          <p:nvPr>
            <p:ph type="sldNum" sz="quarter" idx="12"/>
          </p:nvPr>
        </p:nvSpPr>
        <p:spPr/>
        <p:txBody>
          <a:bodyPr/>
          <a:lstStyle/>
          <a:p>
            <a:fld id="{38393E42-2B9C-49DA-AE07-5E6C4D5C671B}" type="slidenum">
              <a:rPr lang="en-US" smtClean="0"/>
              <a:t>‹#›</a:t>
            </a:fld>
            <a:endParaRPr lang="en-US"/>
          </a:p>
        </p:txBody>
      </p:sp>
    </p:spTree>
    <p:extLst>
      <p:ext uri="{BB962C8B-B14F-4D97-AF65-F5344CB8AC3E}">
        <p14:creationId xmlns:p14="http://schemas.microsoft.com/office/powerpoint/2010/main" val="4672897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A432A-0C73-61DE-CA92-21D7B268AF5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762DDC2-3008-9DC6-348D-7536E9DEFA84}"/>
              </a:ext>
            </a:extLst>
          </p:cNvPr>
          <p:cNvSpPr>
            <a:spLocks noGrp="1"/>
          </p:cNvSpPr>
          <p:nvPr>
            <p:ph type="dt" sz="half" idx="10"/>
          </p:nvPr>
        </p:nvSpPr>
        <p:spPr/>
        <p:txBody>
          <a:bodyPr/>
          <a:lstStyle/>
          <a:p>
            <a:fld id="{7C113B9D-CA14-452A-BDFB-733C01772E27}" type="datetimeFigureOut">
              <a:rPr lang="en-US" smtClean="0"/>
              <a:t>1/29/2026</a:t>
            </a:fld>
            <a:endParaRPr lang="en-US"/>
          </a:p>
        </p:txBody>
      </p:sp>
      <p:sp>
        <p:nvSpPr>
          <p:cNvPr id="4" name="Footer Placeholder 3">
            <a:extLst>
              <a:ext uri="{FF2B5EF4-FFF2-40B4-BE49-F238E27FC236}">
                <a16:creationId xmlns:a16="http://schemas.microsoft.com/office/drawing/2014/main" id="{E93A8065-4961-2C8B-FC6C-1BCFA179EAB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EF42334-C063-02D5-FBBD-397A2BC8F061}"/>
              </a:ext>
            </a:extLst>
          </p:cNvPr>
          <p:cNvSpPr>
            <a:spLocks noGrp="1"/>
          </p:cNvSpPr>
          <p:nvPr>
            <p:ph type="sldNum" sz="quarter" idx="12"/>
          </p:nvPr>
        </p:nvSpPr>
        <p:spPr/>
        <p:txBody>
          <a:bodyPr/>
          <a:lstStyle/>
          <a:p>
            <a:fld id="{38393E42-2B9C-49DA-AE07-5E6C4D5C671B}" type="slidenum">
              <a:rPr lang="en-US" smtClean="0"/>
              <a:t>‹#›</a:t>
            </a:fld>
            <a:endParaRPr lang="en-US"/>
          </a:p>
        </p:txBody>
      </p:sp>
    </p:spTree>
    <p:extLst>
      <p:ext uri="{BB962C8B-B14F-4D97-AF65-F5344CB8AC3E}">
        <p14:creationId xmlns:p14="http://schemas.microsoft.com/office/powerpoint/2010/main" val="25202764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0A4255-8071-6DBA-7B17-910C92773FC8}"/>
              </a:ext>
            </a:extLst>
          </p:cNvPr>
          <p:cNvSpPr>
            <a:spLocks noGrp="1"/>
          </p:cNvSpPr>
          <p:nvPr>
            <p:ph type="dt" sz="half" idx="10"/>
          </p:nvPr>
        </p:nvSpPr>
        <p:spPr/>
        <p:txBody>
          <a:bodyPr/>
          <a:lstStyle/>
          <a:p>
            <a:fld id="{7C113B9D-CA14-452A-BDFB-733C01772E27}" type="datetimeFigureOut">
              <a:rPr lang="en-US" smtClean="0"/>
              <a:t>1/29/2026</a:t>
            </a:fld>
            <a:endParaRPr lang="en-US"/>
          </a:p>
        </p:txBody>
      </p:sp>
      <p:sp>
        <p:nvSpPr>
          <p:cNvPr id="3" name="Footer Placeholder 2">
            <a:extLst>
              <a:ext uri="{FF2B5EF4-FFF2-40B4-BE49-F238E27FC236}">
                <a16:creationId xmlns:a16="http://schemas.microsoft.com/office/drawing/2014/main" id="{5EFDC393-7E5F-8132-CC86-46E6926EB3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D8E7B37-61E6-8A4D-20BC-26C8F9FB538D}"/>
              </a:ext>
            </a:extLst>
          </p:cNvPr>
          <p:cNvSpPr>
            <a:spLocks noGrp="1"/>
          </p:cNvSpPr>
          <p:nvPr>
            <p:ph type="sldNum" sz="quarter" idx="12"/>
          </p:nvPr>
        </p:nvSpPr>
        <p:spPr/>
        <p:txBody>
          <a:bodyPr/>
          <a:lstStyle/>
          <a:p>
            <a:fld id="{38393E42-2B9C-49DA-AE07-5E6C4D5C671B}" type="slidenum">
              <a:rPr lang="en-US" smtClean="0"/>
              <a:t>‹#›</a:t>
            </a:fld>
            <a:endParaRPr lang="en-US"/>
          </a:p>
        </p:txBody>
      </p:sp>
    </p:spTree>
    <p:extLst>
      <p:ext uri="{BB962C8B-B14F-4D97-AF65-F5344CB8AC3E}">
        <p14:creationId xmlns:p14="http://schemas.microsoft.com/office/powerpoint/2010/main" val="10923883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077B8-59A5-56C5-677E-15789F9844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7830D2E-D98A-0266-2A39-81BCCDC344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5D7FCFB-1C98-6179-A5F1-9952E1A144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AAD122-9D47-451D-63D7-1FC47711CA2C}"/>
              </a:ext>
            </a:extLst>
          </p:cNvPr>
          <p:cNvSpPr>
            <a:spLocks noGrp="1"/>
          </p:cNvSpPr>
          <p:nvPr>
            <p:ph type="dt" sz="half" idx="10"/>
          </p:nvPr>
        </p:nvSpPr>
        <p:spPr/>
        <p:txBody>
          <a:bodyPr/>
          <a:lstStyle/>
          <a:p>
            <a:fld id="{7C113B9D-CA14-452A-BDFB-733C01772E27}" type="datetimeFigureOut">
              <a:rPr lang="en-US" smtClean="0"/>
              <a:t>1/29/2026</a:t>
            </a:fld>
            <a:endParaRPr lang="en-US"/>
          </a:p>
        </p:txBody>
      </p:sp>
      <p:sp>
        <p:nvSpPr>
          <p:cNvPr id="6" name="Footer Placeholder 5">
            <a:extLst>
              <a:ext uri="{FF2B5EF4-FFF2-40B4-BE49-F238E27FC236}">
                <a16:creationId xmlns:a16="http://schemas.microsoft.com/office/drawing/2014/main" id="{5538E3E7-8A5D-14DE-A78C-B3D4588C40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9D7B3D-6703-6236-37E6-7712E1696F39}"/>
              </a:ext>
            </a:extLst>
          </p:cNvPr>
          <p:cNvSpPr>
            <a:spLocks noGrp="1"/>
          </p:cNvSpPr>
          <p:nvPr>
            <p:ph type="sldNum" sz="quarter" idx="12"/>
          </p:nvPr>
        </p:nvSpPr>
        <p:spPr/>
        <p:txBody>
          <a:bodyPr/>
          <a:lstStyle/>
          <a:p>
            <a:fld id="{38393E42-2B9C-49DA-AE07-5E6C4D5C671B}" type="slidenum">
              <a:rPr lang="en-US" smtClean="0"/>
              <a:t>‹#›</a:t>
            </a:fld>
            <a:endParaRPr lang="en-US"/>
          </a:p>
        </p:txBody>
      </p:sp>
    </p:spTree>
    <p:extLst>
      <p:ext uri="{BB962C8B-B14F-4D97-AF65-F5344CB8AC3E}">
        <p14:creationId xmlns:p14="http://schemas.microsoft.com/office/powerpoint/2010/main" val="14712878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DCC74-B0C2-65C1-5C00-4489AFDAA8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84EFFE0-A4FB-2782-8E5A-E5B0C5DD41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F550307-B47F-D530-0F1A-2466F90051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DDD53F-8016-0380-F173-E7354B21C110}"/>
              </a:ext>
            </a:extLst>
          </p:cNvPr>
          <p:cNvSpPr>
            <a:spLocks noGrp="1"/>
          </p:cNvSpPr>
          <p:nvPr>
            <p:ph type="dt" sz="half" idx="10"/>
          </p:nvPr>
        </p:nvSpPr>
        <p:spPr/>
        <p:txBody>
          <a:bodyPr/>
          <a:lstStyle/>
          <a:p>
            <a:fld id="{7C113B9D-CA14-452A-BDFB-733C01772E27}" type="datetimeFigureOut">
              <a:rPr lang="en-US" smtClean="0"/>
              <a:t>1/29/2026</a:t>
            </a:fld>
            <a:endParaRPr lang="en-US"/>
          </a:p>
        </p:txBody>
      </p:sp>
      <p:sp>
        <p:nvSpPr>
          <p:cNvPr id="6" name="Footer Placeholder 5">
            <a:extLst>
              <a:ext uri="{FF2B5EF4-FFF2-40B4-BE49-F238E27FC236}">
                <a16:creationId xmlns:a16="http://schemas.microsoft.com/office/drawing/2014/main" id="{5A532C5F-E09A-8923-2B8F-69AB53BB71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D3A67E-11E7-9B3F-1ABB-7F3D1FD91FC7}"/>
              </a:ext>
            </a:extLst>
          </p:cNvPr>
          <p:cNvSpPr>
            <a:spLocks noGrp="1"/>
          </p:cNvSpPr>
          <p:nvPr>
            <p:ph type="sldNum" sz="quarter" idx="12"/>
          </p:nvPr>
        </p:nvSpPr>
        <p:spPr/>
        <p:txBody>
          <a:bodyPr/>
          <a:lstStyle/>
          <a:p>
            <a:fld id="{38393E42-2B9C-49DA-AE07-5E6C4D5C671B}" type="slidenum">
              <a:rPr lang="en-US" smtClean="0"/>
              <a:t>‹#›</a:t>
            </a:fld>
            <a:endParaRPr lang="en-US"/>
          </a:p>
        </p:txBody>
      </p:sp>
    </p:spTree>
    <p:extLst>
      <p:ext uri="{BB962C8B-B14F-4D97-AF65-F5344CB8AC3E}">
        <p14:creationId xmlns:p14="http://schemas.microsoft.com/office/powerpoint/2010/main" val="33206863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62C55-0C47-5B12-FDB0-8FB2E971F9E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EE94F3-7537-1BDE-7B22-F8FD0813752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BDB91A-A58F-2152-5B15-D85A0B48C9FB}"/>
              </a:ext>
            </a:extLst>
          </p:cNvPr>
          <p:cNvSpPr>
            <a:spLocks noGrp="1"/>
          </p:cNvSpPr>
          <p:nvPr>
            <p:ph type="dt" sz="half" idx="10"/>
          </p:nvPr>
        </p:nvSpPr>
        <p:spPr/>
        <p:txBody>
          <a:bodyPr/>
          <a:lstStyle/>
          <a:p>
            <a:fld id="{7C113B9D-CA14-452A-BDFB-733C01772E27}" type="datetimeFigureOut">
              <a:rPr lang="en-US" smtClean="0"/>
              <a:t>1/29/2026</a:t>
            </a:fld>
            <a:endParaRPr lang="en-US"/>
          </a:p>
        </p:txBody>
      </p:sp>
      <p:sp>
        <p:nvSpPr>
          <p:cNvPr id="5" name="Footer Placeholder 4">
            <a:extLst>
              <a:ext uri="{FF2B5EF4-FFF2-40B4-BE49-F238E27FC236}">
                <a16:creationId xmlns:a16="http://schemas.microsoft.com/office/drawing/2014/main" id="{4473E5DC-5D3C-7626-7047-DA65217266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AC2B10-2FF2-744D-7C1A-05CC329A65C4}"/>
              </a:ext>
            </a:extLst>
          </p:cNvPr>
          <p:cNvSpPr>
            <a:spLocks noGrp="1"/>
          </p:cNvSpPr>
          <p:nvPr>
            <p:ph type="sldNum" sz="quarter" idx="12"/>
          </p:nvPr>
        </p:nvSpPr>
        <p:spPr/>
        <p:txBody>
          <a:bodyPr/>
          <a:lstStyle/>
          <a:p>
            <a:fld id="{38393E42-2B9C-49DA-AE07-5E6C4D5C671B}" type="slidenum">
              <a:rPr lang="en-US" smtClean="0"/>
              <a:t>‹#›</a:t>
            </a:fld>
            <a:endParaRPr lang="en-US"/>
          </a:p>
        </p:txBody>
      </p:sp>
    </p:spTree>
    <p:extLst>
      <p:ext uri="{BB962C8B-B14F-4D97-AF65-F5344CB8AC3E}">
        <p14:creationId xmlns:p14="http://schemas.microsoft.com/office/powerpoint/2010/main" val="3256086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F37E0E8-9AF7-E77F-8178-ECEB2AE50D7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E92B322-4351-48CA-5826-5B131F2AADD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166244-B812-21D5-CB41-7E3779CF2757}"/>
              </a:ext>
            </a:extLst>
          </p:cNvPr>
          <p:cNvSpPr>
            <a:spLocks noGrp="1"/>
          </p:cNvSpPr>
          <p:nvPr>
            <p:ph type="dt" sz="half" idx="10"/>
          </p:nvPr>
        </p:nvSpPr>
        <p:spPr/>
        <p:txBody>
          <a:bodyPr/>
          <a:lstStyle/>
          <a:p>
            <a:fld id="{7C113B9D-CA14-452A-BDFB-733C01772E27}" type="datetimeFigureOut">
              <a:rPr lang="en-US" smtClean="0"/>
              <a:t>1/29/2026</a:t>
            </a:fld>
            <a:endParaRPr lang="en-US"/>
          </a:p>
        </p:txBody>
      </p:sp>
      <p:sp>
        <p:nvSpPr>
          <p:cNvPr id="5" name="Footer Placeholder 4">
            <a:extLst>
              <a:ext uri="{FF2B5EF4-FFF2-40B4-BE49-F238E27FC236}">
                <a16:creationId xmlns:a16="http://schemas.microsoft.com/office/drawing/2014/main" id="{6D491B86-2D28-6FCE-8176-D8CB4FD1C5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946AE5-3E20-00CF-221F-5A09428357FC}"/>
              </a:ext>
            </a:extLst>
          </p:cNvPr>
          <p:cNvSpPr>
            <a:spLocks noGrp="1"/>
          </p:cNvSpPr>
          <p:nvPr>
            <p:ph type="sldNum" sz="quarter" idx="12"/>
          </p:nvPr>
        </p:nvSpPr>
        <p:spPr/>
        <p:txBody>
          <a:bodyPr/>
          <a:lstStyle/>
          <a:p>
            <a:fld id="{38393E42-2B9C-49DA-AE07-5E6C4D5C671B}" type="slidenum">
              <a:rPr lang="en-US" smtClean="0"/>
              <a:t>‹#›</a:t>
            </a:fld>
            <a:endParaRPr lang="en-US"/>
          </a:p>
        </p:txBody>
      </p:sp>
    </p:spTree>
    <p:extLst>
      <p:ext uri="{BB962C8B-B14F-4D97-AF65-F5344CB8AC3E}">
        <p14:creationId xmlns:p14="http://schemas.microsoft.com/office/powerpoint/2010/main" val="32579429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970D1A-1900-6528-0A0D-F625568CFD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2540E89-59B4-FDDE-E247-2D24FCE546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034999-65E7-43C8-1700-EC164ACD7A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C113B9D-CA14-452A-BDFB-733C01772E27}" type="datetimeFigureOut">
              <a:rPr lang="en-US" smtClean="0"/>
              <a:t>1/29/2026</a:t>
            </a:fld>
            <a:endParaRPr lang="en-US"/>
          </a:p>
        </p:txBody>
      </p:sp>
      <p:sp>
        <p:nvSpPr>
          <p:cNvPr id="5" name="Footer Placeholder 4">
            <a:extLst>
              <a:ext uri="{FF2B5EF4-FFF2-40B4-BE49-F238E27FC236}">
                <a16:creationId xmlns:a16="http://schemas.microsoft.com/office/drawing/2014/main" id="{EF02ED0C-0E2B-EE75-5A91-92CE02875F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30FC031-0FAC-21E5-51FD-BBBE59CE98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8393E42-2B9C-49DA-AE07-5E6C4D5C671B}" type="slidenum">
              <a:rPr lang="en-US" smtClean="0"/>
              <a:t>‹#›</a:t>
            </a:fld>
            <a:endParaRPr lang="en-US"/>
          </a:p>
        </p:txBody>
      </p:sp>
    </p:spTree>
    <p:extLst>
      <p:ext uri="{BB962C8B-B14F-4D97-AF65-F5344CB8AC3E}">
        <p14:creationId xmlns:p14="http://schemas.microsoft.com/office/powerpoint/2010/main" val="42944131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5DB92-3AFD-EE44-F606-25CB937A5CDD}"/>
              </a:ext>
            </a:extLst>
          </p:cNvPr>
          <p:cNvSpPr>
            <a:spLocks noGrp="1"/>
          </p:cNvSpPr>
          <p:nvPr>
            <p:ph type="ctrTitle"/>
          </p:nvPr>
        </p:nvSpPr>
        <p:spPr>
          <a:xfrm>
            <a:off x="597159" y="326570"/>
            <a:ext cx="11112759" cy="4460033"/>
          </a:xfrm>
          <a:effectLst>
            <a:glow rad="101600">
              <a:schemeClr val="accent2">
                <a:satMod val="175000"/>
                <a:alpha val="40000"/>
              </a:schemeClr>
            </a:glow>
            <a:outerShdw blurRad="152400" dist="317500" dir="5400000" sx="90000" sy="-19000" rotWithShape="0">
              <a:prstClr val="black">
                <a:alpha val="15000"/>
              </a:prstClr>
            </a:outerShdw>
            <a:softEdge rad="12700"/>
          </a:effectLst>
        </p:spPr>
        <p:txBody>
          <a:bodyPr>
            <a:normAutofit fontScale="90000"/>
          </a:bodyPr>
          <a:lstStyle/>
          <a:p>
            <a:r>
              <a:rPr lang="en-US" dirty="0"/>
              <a:t> </a:t>
            </a:r>
            <a:br>
              <a:rPr lang="en-US" dirty="0"/>
            </a:br>
            <a:br>
              <a:rPr lang="en-US" dirty="0"/>
            </a:br>
            <a:br>
              <a:rPr lang="en-US" dirty="0"/>
            </a:br>
            <a:br>
              <a:rPr lang="en-US" dirty="0"/>
            </a:br>
            <a:br>
              <a:rPr lang="en-US" dirty="0"/>
            </a:br>
            <a:br>
              <a:rPr lang="en-US" dirty="0"/>
            </a:br>
            <a:r>
              <a:rPr lang="en-US" sz="4400" dirty="0">
                <a:latin typeface="Times New Roman" panose="02020603050405020304" pitchFamily="18" charset="0"/>
                <a:cs typeface="Times New Roman" panose="02020603050405020304" pitchFamily="18" charset="0"/>
              </a:rPr>
              <a:t>Data Handling and Visualization for Business Intelligence</a:t>
            </a:r>
            <a:br>
              <a:rPr lang="en-US" sz="4400" dirty="0">
                <a:latin typeface="Times New Roman" panose="02020603050405020304" pitchFamily="18" charset="0"/>
                <a:cs typeface="Times New Roman" panose="02020603050405020304" pitchFamily="18" charset="0"/>
              </a:rPr>
            </a:br>
            <a:endParaRPr lang="en-US" sz="4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E5BB1E2-541F-D099-B982-A82105C6258C}"/>
              </a:ext>
            </a:extLst>
          </p:cNvPr>
          <p:cNvPicPr>
            <a:picLocks noChangeAspect="1"/>
          </p:cNvPicPr>
          <p:nvPr/>
        </p:nvPicPr>
        <p:blipFill>
          <a:blip r:embed="rId2"/>
          <a:stretch>
            <a:fillRect/>
          </a:stretch>
        </p:blipFill>
        <p:spPr>
          <a:xfrm>
            <a:off x="1609725" y="490926"/>
            <a:ext cx="8972550" cy="1266825"/>
          </a:xfrm>
          <a:prstGeom prst="rect">
            <a:avLst/>
          </a:prstGeom>
        </p:spPr>
      </p:pic>
    </p:spTree>
    <p:extLst>
      <p:ext uri="{BB962C8B-B14F-4D97-AF65-F5344CB8AC3E}">
        <p14:creationId xmlns:p14="http://schemas.microsoft.com/office/powerpoint/2010/main" val="31032684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8B9A5-1891-1DAE-B236-C0B40625EA4C}"/>
              </a:ext>
            </a:extLst>
          </p:cNvPr>
          <p:cNvSpPr>
            <a:spLocks noGrp="1"/>
          </p:cNvSpPr>
          <p:nvPr>
            <p:ph type="title"/>
          </p:nvPr>
        </p:nvSpPr>
        <p:spPr>
          <a:xfrm>
            <a:off x="615819" y="653143"/>
            <a:ext cx="10960359" cy="802434"/>
          </a:xfrm>
        </p:spPr>
        <p:txBody>
          <a:bodyPr>
            <a:normAutofit/>
          </a:bodyPr>
          <a:lstStyle/>
          <a:p>
            <a:r>
              <a:rPr lang="en-US" dirty="0"/>
              <a:t>                                     </a:t>
            </a:r>
            <a:r>
              <a:rPr lang="en-US" sz="4000" dirty="0">
                <a:latin typeface="Times New Roman" panose="02020603050405020304" pitchFamily="18" charset="0"/>
                <a:cs typeface="Times New Roman" panose="02020603050405020304" pitchFamily="18" charset="0"/>
              </a:rPr>
              <a:t>Abstract </a:t>
            </a:r>
          </a:p>
        </p:txBody>
      </p:sp>
      <p:pic>
        <p:nvPicPr>
          <p:cNvPr id="5" name="Content Placeholder 4">
            <a:extLst>
              <a:ext uri="{FF2B5EF4-FFF2-40B4-BE49-F238E27FC236}">
                <a16:creationId xmlns:a16="http://schemas.microsoft.com/office/drawing/2014/main" id="{E5F11365-CE37-615E-32D4-21BBAC25926E}"/>
              </a:ext>
            </a:extLst>
          </p:cNvPr>
          <p:cNvPicPr>
            <a:picLocks noGrp="1" noChangeAspect="1"/>
          </p:cNvPicPr>
          <p:nvPr>
            <p:ph idx="1"/>
          </p:nvPr>
        </p:nvPicPr>
        <p:blipFill>
          <a:blip r:embed="rId2"/>
          <a:stretch>
            <a:fillRect/>
          </a:stretch>
        </p:blipFill>
        <p:spPr>
          <a:xfrm>
            <a:off x="9924021" y="365125"/>
            <a:ext cx="1652159" cy="1627773"/>
          </a:xfrm>
          <a:prstGeom prst="rect">
            <a:avLst/>
          </a:prstGeom>
        </p:spPr>
      </p:pic>
      <p:pic>
        <p:nvPicPr>
          <p:cNvPr id="4" name="Picture 3">
            <a:extLst>
              <a:ext uri="{FF2B5EF4-FFF2-40B4-BE49-F238E27FC236}">
                <a16:creationId xmlns:a16="http://schemas.microsoft.com/office/drawing/2014/main" id="{5FA90D63-FBCD-1E42-96B3-995DB55D42BC}"/>
              </a:ext>
            </a:extLst>
          </p:cNvPr>
          <p:cNvPicPr>
            <a:picLocks noChangeAspect="1"/>
          </p:cNvPicPr>
          <p:nvPr/>
        </p:nvPicPr>
        <p:blipFill>
          <a:blip r:embed="rId3"/>
          <a:stretch>
            <a:fillRect/>
          </a:stretch>
        </p:blipFill>
        <p:spPr>
          <a:xfrm>
            <a:off x="615820" y="365125"/>
            <a:ext cx="1133954" cy="1505843"/>
          </a:xfrm>
          <a:prstGeom prst="rect">
            <a:avLst/>
          </a:prstGeom>
        </p:spPr>
      </p:pic>
      <p:sp>
        <p:nvSpPr>
          <p:cNvPr id="7" name="TextBox 6">
            <a:extLst>
              <a:ext uri="{FF2B5EF4-FFF2-40B4-BE49-F238E27FC236}">
                <a16:creationId xmlns:a16="http://schemas.microsoft.com/office/drawing/2014/main" id="{A393E723-82F5-9B8C-BDFA-9FD05F3FDDA6}"/>
              </a:ext>
            </a:extLst>
          </p:cNvPr>
          <p:cNvSpPr txBox="1"/>
          <p:nvPr/>
        </p:nvSpPr>
        <p:spPr>
          <a:xfrm>
            <a:off x="615819" y="2218584"/>
            <a:ext cx="10960359" cy="4110741"/>
          </a:xfrm>
          <a:prstGeom prst="rect">
            <a:avLst/>
          </a:prstGeom>
          <a:noFill/>
        </p:spPr>
        <p:txBody>
          <a:bodyPr wrap="square">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In today’s business environment, organizations generate a large amount of data from daily operations such as sales, customer interactions, finance, and marketing activities. However, raw data is often incomplete, unorganized, and difficult to understand, which makes decision making challenging. This project focuses on data handling and visualization techniques to support effective business intelligence. The data handling process includes collecting data, cleaning missing and duplicate values, transforming data into a structured format, and validating it for accuracy. After preprocessing, the data is analyzed to identify important business patterns and performance indicators. Data visualization techniques such as bar charts, line graphs, pie charts, and heatmaps are used to present insights in a clear and easy-to-understand manner. These visual representations help decision makers quickly understand trends, compare performance, and identify problem areas. The project demonstrates how proper data handling combined with effective visualization improves decision-making accuracy, reduces manual effort, and supports data-driven business strategies. Overall, this project highlights the importance of business intelligence systems in transforming raw data into meaningful insights for organizational growth.</a:t>
            </a:r>
          </a:p>
        </p:txBody>
      </p:sp>
    </p:spTree>
    <p:extLst>
      <p:ext uri="{BB962C8B-B14F-4D97-AF65-F5344CB8AC3E}">
        <p14:creationId xmlns:p14="http://schemas.microsoft.com/office/powerpoint/2010/main" val="3496454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822E6-7DC7-7536-9547-D2482038A67B}"/>
              </a:ext>
            </a:extLst>
          </p:cNvPr>
          <p:cNvSpPr>
            <a:spLocks noGrp="1"/>
          </p:cNvSpPr>
          <p:nvPr>
            <p:ph type="title"/>
          </p:nvPr>
        </p:nvSpPr>
        <p:spPr>
          <a:xfrm>
            <a:off x="614266" y="503853"/>
            <a:ext cx="10963468" cy="839755"/>
          </a:xfrm>
        </p:spPr>
        <p:txBody>
          <a:bodyPr>
            <a:normAutofit/>
          </a:bodyPr>
          <a:lstStyle/>
          <a:p>
            <a:r>
              <a:rPr lang="en-US" sz="3600" dirty="0">
                <a:latin typeface="Times New Roman" panose="02020603050405020304" pitchFamily="18" charset="0"/>
                <a:cs typeface="Times New Roman" panose="02020603050405020304" pitchFamily="18" charset="0"/>
              </a:rPr>
              <a:t>                                Introduction </a:t>
            </a:r>
          </a:p>
        </p:txBody>
      </p:sp>
      <p:sp>
        <p:nvSpPr>
          <p:cNvPr id="3" name="Content Placeholder 2">
            <a:extLst>
              <a:ext uri="{FF2B5EF4-FFF2-40B4-BE49-F238E27FC236}">
                <a16:creationId xmlns:a16="http://schemas.microsoft.com/office/drawing/2014/main" id="{813EF6BE-56F4-85EC-C247-AC2470B7885D}"/>
              </a:ext>
            </a:extLst>
          </p:cNvPr>
          <p:cNvSpPr>
            <a:spLocks noGrp="1"/>
          </p:cNvSpPr>
          <p:nvPr>
            <p:ph idx="1"/>
          </p:nvPr>
        </p:nvSpPr>
        <p:spPr>
          <a:xfrm>
            <a:off x="614266" y="1632858"/>
            <a:ext cx="10515600" cy="5085281"/>
          </a:xfrm>
        </p:spPr>
        <p:txBody>
          <a:bodyPr>
            <a:noAutofit/>
          </a:bodyPr>
          <a:lstStyle/>
          <a:p>
            <a:pPr algn="just">
              <a:lnSpc>
                <a:spcPct val="150000"/>
              </a:lnSpc>
            </a:pPr>
            <a:r>
              <a:rPr lang="en-US" sz="2400" dirty="0">
                <a:latin typeface="Times New Roman" panose="02020603050405020304" pitchFamily="18" charset="0"/>
                <a:cs typeface="Times New Roman" panose="02020603050405020304" pitchFamily="18" charset="0"/>
              </a:rPr>
              <a:t>Modern businesses generate large volumes of data from sales, customers, finance, and operations.</a:t>
            </a:r>
          </a:p>
          <a:p>
            <a:pPr algn="just">
              <a:lnSpc>
                <a:spcPct val="150000"/>
              </a:lnSpc>
            </a:pPr>
            <a:r>
              <a:rPr lang="en-US" sz="2400" dirty="0">
                <a:latin typeface="Times New Roman" panose="02020603050405020304" pitchFamily="18" charset="0"/>
                <a:cs typeface="Times New Roman" panose="02020603050405020304" pitchFamily="18" charset="0"/>
              </a:rPr>
              <a:t>Raw data is often unstructured, inconsistent, and difficult to interpret.</a:t>
            </a:r>
          </a:p>
          <a:p>
            <a:pPr algn="just">
              <a:lnSpc>
                <a:spcPct val="150000"/>
              </a:lnSpc>
            </a:pPr>
            <a:r>
              <a:rPr lang="en-US" sz="2400" dirty="0">
                <a:latin typeface="Times New Roman" panose="02020603050405020304" pitchFamily="18" charset="0"/>
                <a:cs typeface="Times New Roman" panose="02020603050405020304" pitchFamily="18" charset="0"/>
              </a:rPr>
              <a:t>Business Intelligence (BI) helps convert raw data into meaningful information.</a:t>
            </a:r>
          </a:p>
          <a:p>
            <a:pPr algn="just">
              <a:lnSpc>
                <a:spcPct val="150000"/>
              </a:lnSpc>
            </a:pPr>
            <a:r>
              <a:rPr lang="en-US" sz="2400" dirty="0">
                <a:latin typeface="Times New Roman" panose="02020603050405020304" pitchFamily="18" charset="0"/>
                <a:cs typeface="Times New Roman" panose="02020603050405020304" pitchFamily="18" charset="0"/>
              </a:rPr>
              <a:t>Effective data handling ensures data accuracy, reliability, and usability.</a:t>
            </a:r>
          </a:p>
          <a:p>
            <a:pPr algn="just">
              <a:lnSpc>
                <a:spcPct val="150000"/>
              </a:lnSpc>
            </a:pPr>
            <a:r>
              <a:rPr lang="en-US" sz="2400" dirty="0">
                <a:latin typeface="Times New Roman" panose="02020603050405020304" pitchFamily="18" charset="0"/>
                <a:cs typeface="Times New Roman" panose="02020603050405020304" pitchFamily="18" charset="0"/>
              </a:rPr>
              <a:t>Data visualization presents insights in graphical form for easy understanding.</a:t>
            </a:r>
          </a:p>
          <a:p>
            <a:pPr algn="just">
              <a:lnSpc>
                <a:spcPct val="150000"/>
              </a:lnSpc>
            </a:pPr>
            <a:r>
              <a:rPr lang="en-US" sz="2400" dirty="0">
                <a:latin typeface="Times New Roman" panose="02020603050405020304" pitchFamily="18" charset="0"/>
                <a:cs typeface="Times New Roman" panose="02020603050405020304" pitchFamily="18" charset="0"/>
              </a:rPr>
              <a:t>This project focuses on integrating data handling and visualization to support business decision making.</a:t>
            </a:r>
          </a:p>
          <a:p>
            <a:pPr algn="just">
              <a:lnSpc>
                <a:spcPct val="150000"/>
              </a:lnSpc>
            </a:pPr>
            <a:endParaRPr lang="en-US" sz="2400" dirty="0">
              <a:latin typeface="Times New Roman" panose="02020603050405020304" pitchFamily="18" charset="0"/>
              <a:cs typeface="Times New Roman" panose="02020603050405020304" pitchFamily="18" charset="0"/>
            </a:endParaRPr>
          </a:p>
          <a:p>
            <a:pPr algn="just">
              <a:lnSpc>
                <a:spcPct val="150000"/>
              </a:lnSpc>
            </a:pPr>
            <a:endParaRPr lang="en-US"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5A814C7-0B8C-7C6F-0769-B8D390775368}"/>
              </a:ext>
            </a:extLst>
          </p:cNvPr>
          <p:cNvPicPr>
            <a:picLocks noChangeAspect="1"/>
          </p:cNvPicPr>
          <p:nvPr/>
        </p:nvPicPr>
        <p:blipFill>
          <a:blip r:embed="rId2"/>
          <a:stretch>
            <a:fillRect/>
          </a:stretch>
        </p:blipFill>
        <p:spPr>
          <a:xfrm>
            <a:off x="614266" y="214505"/>
            <a:ext cx="1133475" cy="1504950"/>
          </a:xfrm>
          <a:prstGeom prst="rect">
            <a:avLst/>
          </a:prstGeom>
        </p:spPr>
      </p:pic>
      <p:pic>
        <p:nvPicPr>
          <p:cNvPr id="5" name="Picture 4">
            <a:extLst>
              <a:ext uri="{FF2B5EF4-FFF2-40B4-BE49-F238E27FC236}">
                <a16:creationId xmlns:a16="http://schemas.microsoft.com/office/drawing/2014/main" id="{4ED24BEC-9F62-CDF6-54D0-C43A68836EB8}"/>
              </a:ext>
            </a:extLst>
          </p:cNvPr>
          <p:cNvPicPr>
            <a:picLocks noChangeAspect="1"/>
          </p:cNvPicPr>
          <p:nvPr/>
        </p:nvPicPr>
        <p:blipFill>
          <a:blip r:embed="rId3"/>
          <a:stretch>
            <a:fillRect/>
          </a:stretch>
        </p:blipFill>
        <p:spPr>
          <a:xfrm>
            <a:off x="9926215" y="214505"/>
            <a:ext cx="1651519" cy="1623625"/>
          </a:xfrm>
          <a:prstGeom prst="rect">
            <a:avLst/>
          </a:prstGeom>
        </p:spPr>
      </p:pic>
    </p:spTree>
    <p:extLst>
      <p:ext uri="{BB962C8B-B14F-4D97-AF65-F5344CB8AC3E}">
        <p14:creationId xmlns:p14="http://schemas.microsoft.com/office/powerpoint/2010/main" val="12457435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70D8E-8DD1-7547-B1A4-9BD122C9B4A8}"/>
              </a:ext>
            </a:extLst>
          </p:cNvPr>
          <p:cNvSpPr>
            <a:spLocks noGrp="1"/>
          </p:cNvSpPr>
          <p:nvPr>
            <p:ph type="title"/>
          </p:nvPr>
        </p:nvSpPr>
        <p:spPr>
          <a:xfrm>
            <a:off x="443839" y="438538"/>
            <a:ext cx="11304322" cy="839756"/>
          </a:xfrm>
        </p:spPr>
        <p:txBody>
          <a:bodyPr>
            <a:normAutofit/>
          </a:bodyPr>
          <a:lstStyle/>
          <a:p>
            <a:r>
              <a:rPr lang="en-US" sz="3600" dirty="0">
                <a:latin typeface="Times New Roman" panose="02020603050405020304" pitchFamily="18" charset="0"/>
                <a:cs typeface="Times New Roman" panose="02020603050405020304" pitchFamily="18" charset="0"/>
              </a:rPr>
              <a:t>                                  Objectives </a:t>
            </a:r>
          </a:p>
        </p:txBody>
      </p:sp>
      <p:sp>
        <p:nvSpPr>
          <p:cNvPr id="3" name="Content Placeholder 2">
            <a:extLst>
              <a:ext uri="{FF2B5EF4-FFF2-40B4-BE49-F238E27FC236}">
                <a16:creationId xmlns:a16="http://schemas.microsoft.com/office/drawing/2014/main" id="{7D4C8E32-7AD1-0D63-FB66-CFDDA70C9588}"/>
              </a:ext>
            </a:extLst>
          </p:cNvPr>
          <p:cNvSpPr>
            <a:spLocks noGrp="1"/>
          </p:cNvSpPr>
          <p:nvPr>
            <p:ph idx="1"/>
          </p:nvPr>
        </p:nvSpPr>
        <p:spPr>
          <a:xfrm>
            <a:off x="443839" y="1912775"/>
            <a:ext cx="10648704" cy="5057290"/>
          </a:xfrm>
        </p:spPr>
        <p:txBody>
          <a:bodyPr>
            <a:noAutofit/>
          </a:bodyPr>
          <a:lstStyle/>
          <a:p>
            <a:pPr>
              <a:lnSpc>
                <a:spcPct val="150000"/>
              </a:lnSpc>
            </a:pPr>
            <a:r>
              <a:rPr lang="en-US" sz="2400" dirty="0">
                <a:latin typeface="Times New Roman" panose="02020603050405020304" pitchFamily="18" charset="0"/>
                <a:cs typeface="Times New Roman" panose="02020603050405020304" pitchFamily="18" charset="0"/>
              </a:rPr>
              <a:t>To collect business data from multiple sources.</a:t>
            </a:r>
          </a:p>
          <a:p>
            <a:pPr>
              <a:lnSpc>
                <a:spcPct val="150000"/>
              </a:lnSpc>
            </a:pPr>
            <a:r>
              <a:rPr lang="en-US" sz="2400" dirty="0">
                <a:latin typeface="Times New Roman" panose="02020603050405020304" pitchFamily="18" charset="0"/>
                <a:cs typeface="Times New Roman" panose="02020603050405020304" pitchFamily="18" charset="0"/>
              </a:rPr>
              <a:t>To clean and preprocess raw business data.</a:t>
            </a:r>
          </a:p>
          <a:p>
            <a:pPr>
              <a:lnSpc>
                <a:spcPct val="150000"/>
              </a:lnSpc>
            </a:pPr>
            <a:r>
              <a:rPr lang="en-US" sz="2400" dirty="0">
                <a:latin typeface="Times New Roman" panose="02020603050405020304" pitchFamily="18" charset="0"/>
                <a:cs typeface="Times New Roman" panose="02020603050405020304" pitchFamily="18" charset="0"/>
              </a:rPr>
              <a:t>To transform data into an analyzable format.</a:t>
            </a:r>
          </a:p>
          <a:p>
            <a:pPr>
              <a:lnSpc>
                <a:spcPct val="150000"/>
              </a:lnSpc>
            </a:pPr>
            <a:r>
              <a:rPr lang="en-US" sz="2400" dirty="0">
                <a:latin typeface="Times New Roman" panose="02020603050405020304" pitchFamily="18" charset="0"/>
                <a:cs typeface="Times New Roman" panose="02020603050405020304" pitchFamily="18" charset="0"/>
              </a:rPr>
              <a:t>To visualize business metrics using charts and dashboards.</a:t>
            </a:r>
          </a:p>
          <a:p>
            <a:pPr>
              <a:lnSpc>
                <a:spcPct val="150000"/>
              </a:lnSpc>
            </a:pPr>
            <a:r>
              <a:rPr lang="en-US" sz="2400" dirty="0">
                <a:latin typeface="Times New Roman" panose="02020603050405020304" pitchFamily="18" charset="0"/>
                <a:cs typeface="Times New Roman" panose="02020603050405020304" pitchFamily="18" charset="0"/>
              </a:rPr>
              <a:t>To support data-driven business decision making.</a:t>
            </a:r>
          </a:p>
          <a:p>
            <a:pPr>
              <a:lnSpc>
                <a:spcPct val="150000"/>
              </a:lnSpc>
            </a:pPr>
            <a:r>
              <a:rPr lang="en-US" sz="2400" dirty="0">
                <a:latin typeface="Times New Roman" panose="02020603050405020304" pitchFamily="18" charset="0"/>
                <a:cs typeface="Times New Roman" panose="02020603050405020304" pitchFamily="18" charset="0"/>
              </a:rPr>
              <a:t>To improve understanding of business trends and performance.</a:t>
            </a:r>
          </a:p>
        </p:txBody>
      </p:sp>
      <p:pic>
        <p:nvPicPr>
          <p:cNvPr id="4" name="Picture 3">
            <a:extLst>
              <a:ext uri="{FF2B5EF4-FFF2-40B4-BE49-F238E27FC236}">
                <a16:creationId xmlns:a16="http://schemas.microsoft.com/office/drawing/2014/main" id="{252D5D8F-FD37-EB4F-67DE-91B543B6CA26}"/>
              </a:ext>
            </a:extLst>
          </p:cNvPr>
          <p:cNvPicPr>
            <a:picLocks noChangeAspect="1"/>
          </p:cNvPicPr>
          <p:nvPr/>
        </p:nvPicPr>
        <p:blipFill>
          <a:blip r:embed="rId2"/>
          <a:stretch>
            <a:fillRect/>
          </a:stretch>
        </p:blipFill>
        <p:spPr>
          <a:xfrm>
            <a:off x="443839" y="148280"/>
            <a:ext cx="1133954" cy="1505843"/>
          </a:xfrm>
          <a:prstGeom prst="rect">
            <a:avLst/>
          </a:prstGeom>
        </p:spPr>
      </p:pic>
      <p:pic>
        <p:nvPicPr>
          <p:cNvPr id="5" name="Picture 4">
            <a:extLst>
              <a:ext uri="{FF2B5EF4-FFF2-40B4-BE49-F238E27FC236}">
                <a16:creationId xmlns:a16="http://schemas.microsoft.com/office/drawing/2014/main" id="{303D6171-94E5-4349-D7E0-67C28AA29126}"/>
              </a:ext>
            </a:extLst>
          </p:cNvPr>
          <p:cNvPicPr>
            <a:picLocks noChangeAspect="1"/>
          </p:cNvPicPr>
          <p:nvPr/>
        </p:nvPicPr>
        <p:blipFill>
          <a:blip r:embed="rId3"/>
          <a:stretch>
            <a:fillRect/>
          </a:stretch>
        </p:blipFill>
        <p:spPr>
          <a:xfrm>
            <a:off x="10096002" y="148280"/>
            <a:ext cx="1652159" cy="1621677"/>
          </a:xfrm>
          <a:prstGeom prst="rect">
            <a:avLst/>
          </a:prstGeom>
        </p:spPr>
      </p:pic>
    </p:spTree>
    <p:extLst>
      <p:ext uri="{BB962C8B-B14F-4D97-AF65-F5344CB8AC3E}">
        <p14:creationId xmlns:p14="http://schemas.microsoft.com/office/powerpoint/2010/main" val="19189031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834D4-154C-6A24-635C-A39573F0D0C9}"/>
              </a:ext>
            </a:extLst>
          </p:cNvPr>
          <p:cNvSpPr>
            <a:spLocks noGrp="1"/>
          </p:cNvSpPr>
          <p:nvPr>
            <p:ph type="title"/>
          </p:nvPr>
        </p:nvSpPr>
        <p:spPr>
          <a:xfrm>
            <a:off x="510852" y="475861"/>
            <a:ext cx="11170296" cy="839755"/>
          </a:xfrm>
        </p:spPr>
        <p:txBody>
          <a:bodyPr>
            <a:normAutofit/>
          </a:bodyPr>
          <a:lstStyle/>
          <a:p>
            <a:r>
              <a:rPr lang="en-US" sz="3600" dirty="0">
                <a:latin typeface="Times New Roman" panose="02020603050405020304" pitchFamily="18" charset="0"/>
                <a:cs typeface="Times New Roman" panose="02020603050405020304" pitchFamily="18" charset="0"/>
              </a:rPr>
              <a:t>                             Problem Statement</a:t>
            </a:r>
          </a:p>
        </p:txBody>
      </p:sp>
      <p:sp>
        <p:nvSpPr>
          <p:cNvPr id="3" name="Content Placeholder 2">
            <a:extLst>
              <a:ext uri="{FF2B5EF4-FFF2-40B4-BE49-F238E27FC236}">
                <a16:creationId xmlns:a16="http://schemas.microsoft.com/office/drawing/2014/main" id="{3595D656-0B61-A39F-D160-1CC965ACA77D}"/>
              </a:ext>
            </a:extLst>
          </p:cNvPr>
          <p:cNvSpPr>
            <a:spLocks noGrp="1"/>
          </p:cNvSpPr>
          <p:nvPr>
            <p:ph idx="1"/>
          </p:nvPr>
        </p:nvSpPr>
        <p:spPr>
          <a:xfrm>
            <a:off x="510852" y="1903445"/>
            <a:ext cx="10842948" cy="5019967"/>
          </a:xfrm>
        </p:spPr>
        <p:txBody>
          <a:bodyPr>
            <a:noAutofit/>
          </a:bodyPr>
          <a:lstStyle/>
          <a:p>
            <a:pPr algn="just">
              <a:lnSpc>
                <a:spcPct val="150000"/>
              </a:lnSpc>
            </a:pPr>
            <a:r>
              <a:rPr lang="en-US" sz="2400" dirty="0">
                <a:latin typeface="Times New Roman" panose="02020603050405020304" pitchFamily="18" charset="0"/>
                <a:cs typeface="Times New Roman" panose="02020603050405020304" pitchFamily="18" charset="0"/>
              </a:rPr>
              <a:t>Business data is often scattered across different systems.</a:t>
            </a:r>
          </a:p>
          <a:p>
            <a:pPr algn="just">
              <a:lnSpc>
                <a:spcPct val="150000"/>
              </a:lnSpc>
            </a:pPr>
            <a:r>
              <a:rPr lang="en-US" sz="2400" dirty="0">
                <a:latin typeface="Times New Roman" panose="02020603050405020304" pitchFamily="18" charset="0"/>
                <a:cs typeface="Times New Roman" panose="02020603050405020304" pitchFamily="18" charset="0"/>
              </a:rPr>
              <a:t>Raw data contains missing values, duplicates, and inconsistencies.</a:t>
            </a:r>
          </a:p>
          <a:p>
            <a:pPr algn="just">
              <a:lnSpc>
                <a:spcPct val="150000"/>
              </a:lnSpc>
            </a:pPr>
            <a:r>
              <a:rPr lang="en-US" sz="2400" dirty="0">
                <a:latin typeface="Times New Roman" panose="02020603050405020304" pitchFamily="18" charset="0"/>
                <a:cs typeface="Times New Roman" panose="02020603050405020304" pitchFamily="18" charset="0"/>
              </a:rPr>
              <a:t>Manual analysis of large datasets is time-consuming and error-prone.</a:t>
            </a:r>
          </a:p>
          <a:p>
            <a:pPr algn="just">
              <a:lnSpc>
                <a:spcPct val="150000"/>
              </a:lnSpc>
            </a:pPr>
            <a:r>
              <a:rPr lang="en-US" sz="2400" dirty="0">
                <a:latin typeface="Times New Roman" panose="02020603050405020304" pitchFamily="18" charset="0"/>
                <a:cs typeface="Times New Roman" panose="02020603050405020304" pitchFamily="18" charset="0"/>
              </a:rPr>
              <a:t>Traditional reports fail to provide real-time insights.</a:t>
            </a:r>
          </a:p>
          <a:p>
            <a:pPr algn="just">
              <a:lnSpc>
                <a:spcPct val="150000"/>
              </a:lnSpc>
            </a:pPr>
            <a:r>
              <a:rPr lang="en-US" sz="2400" dirty="0">
                <a:latin typeface="Times New Roman" panose="02020603050405020304" pitchFamily="18" charset="0"/>
                <a:cs typeface="Times New Roman" panose="02020603050405020304" pitchFamily="18" charset="0"/>
              </a:rPr>
              <a:t>Decision makers struggle to interpret complex data quickly.</a:t>
            </a:r>
          </a:p>
          <a:p>
            <a:pPr algn="just">
              <a:lnSpc>
                <a:spcPct val="150000"/>
              </a:lnSpc>
            </a:pPr>
            <a:r>
              <a:rPr lang="en-US" sz="2400" dirty="0">
                <a:latin typeface="Times New Roman" panose="02020603050405020304" pitchFamily="18" charset="0"/>
                <a:cs typeface="Times New Roman" panose="02020603050405020304" pitchFamily="18" charset="0"/>
              </a:rPr>
              <a:t>Hence, there is a need for an efficient data handling and visualization system for business intelligence.</a:t>
            </a:r>
          </a:p>
          <a:p>
            <a:pPr algn="just">
              <a:lnSpc>
                <a:spcPct val="150000"/>
              </a:lnSpc>
            </a:pPr>
            <a:endParaRPr lang="en-US" sz="2400" dirty="0">
              <a:latin typeface="Times New Roman" panose="02020603050405020304" pitchFamily="18" charset="0"/>
              <a:cs typeface="Times New Roman" panose="02020603050405020304" pitchFamily="18" charset="0"/>
            </a:endParaRPr>
          </a:p>
          <a:p>
            <a:pPr algn="just">
              <a:lnSpc>
                <a:spcPct val="150000"/>
              </a:lnSpc>
            </a:pPr>
            <a:endParaRPr lang="en-US"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3DC9A2C-4FA8-2B76-2EF3-A0C995AF6A1C}"/>
              </a:ext>
            </a:extLst>
          </p:cNvPr>
          <p:cNvPicPr>
            <a:picLocks noChangeAspect="1"/>
          </p:cNvPicPr>
          <p:nvPr/>
        </p:nvPicPr>
        <p:blipFill>
          <a:blip r:embed="rId2"/>
          <a:stretch>
            <a:fillRect/>
          </a:stretch>
        </p:blipFill>
        <p:spPr>
          <a:xfrm>
            <a:off x="510852" y="184802"/>
            <a:ext cx="1133954" cy="1505843"/>
          </a:xfrm>
          <a:prstGeom prst="rect">
            <a:avLst/>
          </a:prstGeom>
        </p:spPr>
      </p:pic>
      <p:pic>
        <p:nvPicPr>
          <p:cNvPr id="5" name="Picture 4">
            <a:extLst>
              <a:ext uri="{FF2B5EF4-FFF2-40B4-BE49-F238E27FC236}">
                <a16:creationId xmlns:a16="http://schemas.microsoft.com/office/drawing/2014/main" id="{FCF0E94C-91BE-30FD-BA68-BDA1B9D6D757}"/>
              </a:ext>
            </a:extLst>
          </p:cNvPr>
          <p:cNvPicPr>
            <a:picLocks noChangeAspect="1"/>
          </p:cNvPicPr>
          <p:nvPr/>
        </p:nvPicPr>
        <p:blipFill>
          <a:blip r:embed="rId3"/>
          <a:stretch>
            <a:fillRect/>
          </a:stretch>
        </p:blipFill>
        <p:spPr>
          <a:xfrm>
            <a:off x="10028989" y="184802"/>
            <a:ext cx="1652159" cy="1621677"/>
          </a:xfrm>
          <a:prstGeom prst="rect">
            <a:avLst/>
          </a:prstGeom>
        </p:spPr>
      </p:pic>
    </p:spTree>
    <p:extLst>
      <p:ext uri="{BB962C8B-B14F-4D97-AF65-F5344CB8AC3E}">
        <p14:creationId xmlns:p14="http://schemas.microsoft.com/office/powerpoint/2010/main" val="26562589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58931-2F38-86BF-EF7E-E4CC344BDF80}"/>
              </a:ext>
            </a:extLst>
          </p:cNvPr>
          <p:cNvSpPr>
            <a:spLocks noGrp="1"/>
          </p:cNvSpPr>
          <p:nvPr>
            <p:ph type="title"/>
          </p:nvPr>
        </p:nvSpPr>
        <p:spPr>
          <a:xfrm>
            <a:off x="569167" y="251927"/>
            <a:ext cx="10784633" cy="6344816"/>
          </a:xfrm>
        </p:spPr>
        <p:txBody>
          <a:bodyPr>
            <a:normAutofit/>
          </a:bodyPr>
          <a:lstStyle/>
          <a:p>
            <a:pPr algn="ctr"/>
            <a:r>
              <a:rPr lang="en-US" sz="6000" dirty="0">
                <a:latin typeface="Times New Roman" panose="02020603050405020304" pitchFamily="18" charset="0"/>
                <a:cs typeface="Times New Roman" panose="02020603050405020304" pitchFamily="18" charset="0"/>
              </a:rPr>
              <a:t>Module </a:t>
            </a:r>
            <a:br>
              <a:rPr lang="en-US" sz="4000" dirty="0">
                <a:latin typeface="Times New Roman" panose="02020603050405020304" pitchFamily="18" charset="0"/>
                <a:cs typeface="Times New Roman" panose="02020603050405020304" pitchFamily="18" charset="0"/>
              </a:rPr>
            </a:br>
            <a:br>
              <a:rPr lang="en-US" sz="4000"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Data Handling and Visualization for Business Intelligence</a:t>
            </a:r>
          </a:p>
        </p:txBody>
      </p:sp>
      <p:pic>
        <p:nvPicPr>
          <p:cNvPr id="4" name="Picture 3">
            <a:extLst>
              <a:ext uri="{FF2B5EF4-FFF2-40B4-BE49-F238E27FC236}">
                <a16:creationId xmlns:a16="http://schemas.microsoft.com/office/drawing/2014/main" id="{0E1473BB-351F-A86A-52A6-EDA7B90CC039}"/>
              </a:ext>
            </a:extLst>
          </p:cNvPr>
          <p:cNvPicPr>
            <a:picLocks noChangeAspect="1"/>
          </p:cNvPicPr>
          <p:nvPr/>
        </p:nvPicPr>
        <p:blipFill>
          <a:blip r:embed="rId2"/>
          <a:stretch>
            <a:fillRect/>
          </a:stretch>
        </p:blipFill>
        <p:spPr>
          <a:xfrm>
            <a:off x="1282384" y="614645"/>
            <a:ext cx="8974090" cy="1261981"/>
          </a:xfrm>
          <a:prstGeom prst="rect">
            <a:avLst/>
          </a:prstGeom>
        </p:spPr>
      </p:pic>
    </p:spTree>
    <p:extLst>
      <p:ext uri="{BB962C8B-B14F-4D97-AF65-F5344CB8AC3E}">
        <p14:creationId xmlns:p14="http://schemas.microsoft.com/office/powerpoint/2010/main" val="21115867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880B2-6F8F-6AE0-D5C0-AE40B56127D7}"/>
              </a:ext>
            </a:extLst>
          </p:cNvPr>
          <p:cNvSpPr>
            <a:spLocks noGrp="1"/>
          </p:cNvSpPr>
          <p:nvPr>
            <p:ph type="title"/>
          </p:nvPr>
        </p:nvSpPr>
        <p:spPr>
          <a:xfrm>
            <a:off x="475861" y="653143"/>
            <a:ext cx="11206066" cy="802433"/>
          </a:xfrm>
        </p:spPr>
        <p:txBody>
          <a:bodyPr>
            <a:normAutofit/>
          </a:bodyPr>
          <a:lstStyle/>
          <a:p>
            <a:r>
              <a:rPr lang="en-US" sz="3600" dirty="0">
                <a:latin typeface="Times New Roman" panose="02020603050405020304" pitchFamily="18" charset="0"/>
                <a:cs typeface="Times New Roman" panose="02020603050405020304" pitchFamily="18" charset="0"/>
              </a:rPr>
              <a:t>                             Module Overview  </a:t>
            </a:r>
          </a:p>
        </p:txBody>
      </p:sp>
      <p:sp>
        <p:nvSpPr>
          <p:cNvPr id="3" name="Content Placeholder 2">
            <a:extLst>
              <a:ext uri="{FF2B5EF4-FFF2-40B4-BE49-F238E27FC236}">
                <a16:creationId xmlns:a16="http://schemas.microsoft.com/office/drawing/2014/main" id="{3436A045-DE19-6566-2344-AF336385DE7B}"/>
              </a:ext>
            </a:extLst>
          </p:cNvPr>
          <p:cNvSpPr>
            <a:spLocks noGrp="1"/>
          </p:cNvSpPr>
          <p:nvPr>
            <p:ph idx="1"/>
          </p:nvPr>
        </p:nvSpPr>
        <p:spPr>
          <a:xfrm>
            <a:off x="475861" y="1967524"/>
            <a:ext cx="10691327" cy="4842685"/>
          </a:xfrm>
        </p:spPr>
        <p:txBody>
          <a:bodyPr>
            <a:normAutofit/>
          </a:bodyPr>
          <a:lstStyle/>
          <a:p>
            <a:pPr algn="just">
              <a:lnSpc>
                <a:spcPct val="150000"/>
              </a:lnSpc>
            </a:pPr>
            <a:r>
              <a:rPr lang="en-US" dirty="0">
                <a:latin typeface="Times New Roman" panose="02020603050405020304" pitchFamily="18" charset="0"/>
                <a:cs typeface="Times New Roman" panose="02020603050405020304" pitchFamily="18" charset="0"/>
              </a:rPr>
              <a:t>Collects structured business data from files or databases.</a:t>
            </a:r>
          </a:p>
          <a:p>
            <a:pPr algn="just">
              <a:lnSpc>
                <a:spcPct val="150000"/>
              </a:lnSpc>
            </a:pPr>
            <a:r>
              <a:rPr lang="en-US" dirty="0">
                <a:latin typeface="Times New Roman" panose="02020603050405020304" pitchFamily="18" charset="0"/>
                <a:cs typeface="Times New Roman" panose="02020603050405020304" pitchFamily="18" charset="0"/>
              </a:rPr>
              <a:t>Performs data cleaning and preprocessing.</a:t>
            </a:r>
          </a:p>
          <a:p>
            <a:pPr algn="just">
              <a:lnSpc>
                <a:spcPct val="150000"/>
              </a:lnSpc>
            </a:pPr>
            <a:r>
              <a:rPr lang="en-US" dirty="0">
                <a:latin typeface="Times New Roman" panose="02020603050405020304" pitchFamily="18" charset="0"/>
                <a:cs typeface="Times New Roman" panose="02020603050405020304" pitchFamily="18" charset="0"/>
              </a:rPr>
              <a:t>Transforms and aggregates data for analysis.</a:t>
            </a:r>
          </a:p>
          <a:p>
            <a:pPr algn="just">
              <a:lnSpc>
                <a:spcPct val="150000"/>
              </a:lnSpc>
            </a:pPr>
            <a:r>
              <a:rPr lang="en-US" dirty="0">
                <a:latin typeface="Times New Roman" panose="02020603050405020304" pitchFamily="18" charset="0"/>
                <a:cs typeface="Times New Roman" panose="02020603050405020304" pitchFamily="18" charset="0"/>
              </a:rPr>
              <a:t>Analyzes key performance indicators (KPIs).</a:t>
            </a:r>
          </a:p>
          <a:p>
            <a:pPr algn="just">
              <a:lnSpc>
                <a:spcPct val="150000"/>
              </a:lnSpc>
            </a:pPr>
            <a:r>
              <a:rPr lang="en-US" dirty="0">
                <a:latin typeface="Times New Roman" panose="02020603050405020304" pitchFamily="18" charset="0"/>
                <a:cs typeface="Times New Roman" panose="02020603050405020304" pitchFamily="18" charset="0"/>
              </a:rPr>
              <a:t>Visualizes data using graphs and dashboards.</a:t>
            </a:r>
          </a:p>
          <a:p>
            <a:pPr algn="just">
              <a:lnSpc>
                <a:spcPct val="150000"/>
              </a:lnSpc>
            </a:pPr>
            <a:r>
              <a:rPr lang="en-US" dirty="0">
                <a:latin typeface="Times New Roman" panose="02020603050405020304" pitchFamily="18" charset="0"/>
                <a:cs typeface="Times New Roman" panose="02020603050405020304" pitchFamily="18" charset="0"/>
              </a:rPr>
              <a:t>Provides insights to support business decisions.</a:t>
            </a:r>
          </a:p>
        </p:txBody>
      </p:sp>
      <p:pic>
        <p:nvPicPr>
          <p:cNvPr id="4" name="Picture 3">
            <a:extLst>
              <a:ext uri="{FF2B5EF4-FFF2-40B4-BE49-F238E27FC236}">
                <a16:creationId xmlns:a16="http://schemas.microsoft.com/office/drawing/2014/main" id="{E083AF03-7EED-5FF6-B3B7-6AD360B46696}"/>
              </a:ext>
            </a:extLst>
          </p:cNvPr>
          <p:cNvPicPr>
            <a:picLocks noChangeAspect="1"/>
          </p:cNvPicPr>
          <p:nvPr/>
        </p:nvPicPr>
        <p:blipFill>
          <a:blip r:embed="rId2"/>
          <a:stretch>
            <a:fillRect/>
          </a:stretch>
        </p:blipFill>
        <p:spPr>
          <a:xfrm>
            <a:off x="475861" y="365126"/>
            <a:ext cx="1133954" cy="1505843"/>
          </a:xfrm>
          <a:prstGeom prst="rect">
            <a:avLst/>
          </a:prstGeom>
        </p:spPr>
      </p:pic>
      <p:pic>
        <p:nvPicPr>
          <p:cNvPr id="5" name="Picture 4">
            <a:extLst>
              <a:ext uri="{FF2B5EF4-FFF2-40B4-BE49-F238E27FC236}">
                <a16:creationId xmlns:a16="http://schemas.microsoft.com/office/drawing/2014/main" id="{454188A4-413B-39CE-9CD9-D3FF2F11BC17}"/>
              </a:ext>
            </a:extLst>
          </p:cNvPr>
          <p:cNvPicPr>
            <a:picLocks noChangeAspect="1"/>
          </p:cNvPicPr>
          <p:nvPr/>
        </p:nvPicPr>
        <p:blipFill>
          <a:blip r:embed="rId3"/>
          <a:stretch>
            <a:fillRect/>
          </a:stretch>
        </p:blipFill>
        <p:spPr>
          <a:xfrm>
            <a:off x="9908470" y="365126"/>
            <a:ext cx="1652159" cy="1621677"/>
          </a:xfrm>
          <a:prstGeom prst="rect">
            <a:avLst/>
          </a:prstGeom>
        </p:spPr>
      </p:pic>
    </p:spTree>
    <p:extLst>
      <p:ext uri="{BB962C8B-B14F-4D97-AF65-F5344CB8AC3E}">
        <p14:creationId xmlns:p14="http://schemas.microsoft.com/office/powerpoint/2010/main" val="498279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0BF9E-0A80-52CF-FDED-16B8B73AC89E}"/>
              </a:ext>
            </a:extLst>
          </p:cNvPr>
          <p:cNvSpPr>
            <a:spLocks noGrp="1"/>
          </p:cNvSpPr>
          <p:nvPr>
            <p:ph type="title"/>
          </p:nvPr>
        </p:nvSpPr>
        <p:spPr>
          <a:xfrm>
            <a:off x="539301" y="531845"/>
            <a:ext cx="11113398" cy="802433"/>
          </a:xfrm>
        </p:spPr>
        <p:txBody>
          <a:bodyPr>
            <a:normAutofit/>
          </a:bodyPr>
          <a:lstStyle/>
          <a:p>
            <a:pPr algn="ctr"/>
            <a:r>
              <a:rPr lang="en-US" sz="3600" dirty="0">
                <a:latin typeface="Times New Roman" panose="02020603050405020304" pitchFamily="18" charset="0"/>
                <a:cs typeface="Times New Roman" panose="02020603050405020304" pitchFamily="18" charset="0"/>
              </a:rPr>
              <a:t>System  Architecture </a:t>
            </a:r>
          </a:p>
        </p:txBody>
      </p:sp>
      <p:pic>
        <p:nvPicPr>
          <p:cNvPr id="6" name="Content Placeholder 5">
            <a:extLst>
              <a:ext uri="{FF2B5EF4-FFF2-40B4-BE49-F238E27FC236}">
                <a16:creationId xmlns:a16="http://schemas.microsoft.com/office/drawing/2014/main" id="{50DAB245-BAC4-E7A6-162B-CCD1B725F5A0}"/>
              </a:ext>
            </a:extLst>
          </p:cNvPr>
          <p:cNvPicPr>
            <a:picLocks noGrp="1" noChangeAspect="1"/>
          </p:cNvPicPr>
          <p:nvPr>
            <p:ph idx="1"/>
          </p:nvPr>
        </p:nvPicPr>
        <p:blipFill>
          <a:blip r:embed="rId2"/>
          <a:stretch>
            <a:fillRect/>
          </a:stretch>
        </p:blipFill>
        <p:spPr>
          <a:xfrm>
            <a:off x="3881534" y="1748603"/>
            <a:ext cx="4068147" cy="5044082"/>
          </a:xfrm>
          <a:prstGeom prst="rect">
            <a:avLst/>
          </a:prstGeom>
        </p:spPr>
      </p:pic>
      <p:pic>
        <p:nvPicPr>
          <p:cNvPr id="4" name="Picture 3">
            <a:extLst>
              <a:ext uri="{FF2B5EF4-FFF2-40B4-BE49-F238E27FC236}">
                <a16:creationId xmlns:a16="http://schemas.microsoft.com/office/drawing/2014/main" id="{0A1FF40E-7587-2B0F-7D8D-DEFEF5DEFA2C}"/>
              </a:ext>
            </a:extLst>
          </p:cNvPr>
          <p:cNvPicPr>
            <a:picLocks noChangeAspect="1"/>
          </p:cNvPicPr>
          <p:nvPr/>
        </p:nvPicPr>
        <p:blipFill>
          <a:blip r:embed="rId3"/>
          <a:stretch>
            <a:fillRect/>
          </a:stretch>
        </p:blipFill>
        <p:spPr>
          <a:xfrm>
            <a:off x="539301" y="242760"/>
            <a:ext cx="1133954" cy="1505843"/>
          </a:xfrm>
          <a:prstGeom prst="rect">
            <a:avLst/>
          </a:prstGeom>
        </p:spPr>
      </p:pic>
      <p:pic>
        <p:nvPicPr>
          <p:cNvPr id="5" name="Picture 4">
            <a:extLst>
              <a:ext uri="{FF2B5EF4-FFF2-40B4-BE49-F238E27FC236}">
                <a16:creationId xmlns:a16="http://schemas.microsoft.com/office/drawing/2014/main" id="{630CF1E7-FD9A-78F4-9E59-6BEF37145549}"/>
              </a:ext>
            </a:extLst>
          </p:cNvPr>
          <p:cNvPicPr>
            <a:picLocks noChangeAspect="1"/>
          </p:cNvPicPr>
          <p:nvPr/>
        </p:nvPicPr>
        <p:blipFill>
          <a:blip r:embed="rId4"/>
          <a:stretch>
            <a:fillRect/>
          </a:stretch>
        </p:blipFill>
        <p:spPr>
          <a:xfrm>
            <a:off x="10000540" y="242760"/>
            <a:ext cx="1652159" cy="1621677"/>
          </a:xfrm>
          <a:prstGeom prst="rect">
            <a:avLst/>
          </a:prstGeom>
        </p:spPr>
      </p:pic>
    </p:spTree>
    <p:extLst>
      <p:ext uri="{BB962C8B-B14F-4D97-AF65-F5344CB8AC3E}">
        <p14:creationId xmlns:p14="http://schemas.microsoft.com/office/powerpoint/2010/main" val="29620136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11181-362D-6BCE-2AB1-8F1E79DE1E38}"/>
              </a:ext>
            </a:extLst>
          </p:cNvPr>
          <p:cNvSpPr>
            <a:spLocks noGrp="1"/>
          </p:cNvSpPr>
          <p:nvPr>
            <p:ph type="title"/>
          </p:nvPr>
        </p:nvSpPr>
        <p:spPr>
          <a:xfrm>
            <a:off x="615820" y="513184"/>
            <a:ext cx="10960360" cy="802432"/>
          </a:xfrm>
        </p:spPr>
        <p:txBody>
          <a:bodyPr>
            <a:normAutofit/>
          </a:bodyPr>
          <a:lstStyle/>
          <a:p>
            <a:r>
              <a:rPr lang="en-US" sz="3600" dirty="0">
                <a:latin typeface="Times New Roman" panose="02020603050405020304" pitchFamily="18" charset="0"/>
                <a:cs typeface="Times New Roman" panose="02020603050405020304" pitchFamily="18" charset="0"/>
              </a:rPr>
              <a:t>                                      Output </a:t>
            </a:r>
          </a:p>
        </p:txBody>
      </p:sp>
      <p:pic>
        <p:nvPicPr>
          <p:cNvPr id="5" name="Picture 4">
            <a:extLst>
              <a:ext uri="{FF2B5EF4-FFF2-40B4-BE49-F238E27FC236}">
                <a16:creationId xmlns:a16="http://schemas.microsoft.com/office/drawing/2014/main" id="{32C2CFDE-D619-CFBB-A60A-7690C35A36B9}"/>
              </a:ext>
            </a:extLst>
          </p:cNvPr>
          <p:cNvPicPr>
            <a:picLocks noChangeAspect="1"/>
          </p:cNvPicPr>
          <p:nvPr/>
        </p:nvPicPr>
        <p:blipFill>
          <a:blip r:embed="rId2"/>
          <a:stretch>
            <a:fillRect/>
          </a:stretch>
        </p:blipFill>
        <p:spPr>
          <a:xfrm>
            <a:off x="615820" y="226872"/>
            <a:ext cx="1133954" cy="1505843"/>
          </a:xfrm>
          <a:prstGeom prst="rect">
            <a:avLst/>
          </a:prstGeom>
        </p:spPr>
      </p:pic>
      <p:pic>
        <p:nvPicPr>
          <p:cNvPr id="8" name="Content Placeholder 7">
            <a:extLst>
              <a:ext uri="{FF2B5EF4-FFF2-40B4-BE49-F238E27FC236}">
                <a16:creationId xmlns:a16="http://schemas.microsoft.com/office/drawing/2014/main" id="{06E9E283-1B7A-6D29-9477-D9A5BD8D5AEA}"/>
              </a:ext>
            </a:extLst>
          </p:cNvPr>
          <p:cNvPicPr>
            <a:picLocks noGrp="1" noChangeAspect="1"/>
          </p:cNvPicPr>
          <p:nvPr>
            <p:ph idx="1"/>
          </p:nvPr>
        </p:nvPicPr>
        <p:blipFill>
          <a:blip r:embed="rId3"/>
          <a:stretch>
            <a:fillRect/>
          </a:stretch>
        </p:blipFill>
        <p:spPr>
          <a:xfrm>
            <a:off x="9924021" y="226872"/>
            <a:ext cx="1652159" cy="1621677"/>
          </a:xfrm>
          <a:prstGeom prst="rect">
            <a:avLst/>
          </a:prstGeom>
        </p:spPr>
      </p:pic>
      <p:pic>
        <p:nvPicPr>
          <p:cNvPr id="9" name="Picture 8">
            <a:extLst>
              <a:ext uri="{FF2B5EF4-FFF2-40B4-BE49-F238E27FC236}">
                <a16:creationId xmlns:a16="http://schemas.microsoft.com/office/drawing/2014/main" id="{D6F5CD12-111A-47E5-2F8F-5D837C53963E}"/>
              </a:ext>
            </a:extLst>
          </p:cNvPr>
          <p:cNvPicPr>
            <a:picLocks noChangeAspect="1"/>
          </p:cNvPicPr>
          <p:nvPr/>
        </p:nvPicPr>
        <p:blipFill>
          <a:blip r:embed="rId4"/>
          <a:stretch>
            <a:fillRect/>
          </a:stretch>
        </p:blipFill>
        <p:spPr>
          <a:xfrm>
            <a:off x="2186668" y="1848549"/>
            <a:ext cx="8210550" cy="4876800"/>
          </a:xfrm>
          <a:prstGeom prst="rect">
            <a:avLst/>
          </a:prstGeom>
        </p:spPr>
      </p:pic>
    </p:spTree>
    <p:extLst>
      <p:ext uri="{BB962C8B-B14F-4D97-AF65-F5344CB8AC3E}">
        <p14:creationId xmlns:p14="http://schemas.microsoft.com/office/powerpoint/2010/main" val="9175821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D020C-5FC1-2E00-F0AD-D16B6297309C}"/>
              </a:ext>
            </a:extLst>
          </p:cNvPr>
          <p:cNvSpPr>
            <a:spLocks noGrp="1"/>
          </p:cNvSpPr>
          <p:nvPr>
            <p:ph type="title"/>
          </p:nvPr>
        </p:nvSpPr>
        <p:spPr>
          <a:xfrm>
            <a:off x="587829" y="606489"/>
            <a:ext cx="11016342" cy="802433"/>
          </a:xfrm>
        </p:spPr>
        <p:txBody>
          <a:bodyPr>
            <a:normAutofit/>
          </a:bodyPr>
          <a:lstStyle/>
          <a:p>
            <a:r>
              <a:rPr lang="en-US" sz="3600" dirty="0">
                <a:latin typeface="Times New Roman" panose="02020603050405020304" pitchFamily="18" charset="0"/>
                <a:cs typeface="Times New Roman" panose="02020603050405020304" pitchFamily="18" charset="0"/>
              </a:rPr>
              <a:t>                                  Applications  </a:t>
            </a:r>
          </a:p>
        </p:txBody>
      </p:sp>
      <p:sp>
        <p:nvSpPr>
          <p:cNvPr id="3" name="Content Placeholder 2">
            <a:extLst>
              <a:ext uri="{FF2B5EF4-FFF2-40B4-BE49-F238E27FC236}">
                <a16:creationId xmlns:a16="http://schemas.microsoft.com/office/drawing/2014/main" id="{BB122280-FECE-BA77-0E41-CBD435085876}"/>
              </a:ext>
            </a:extLst>
          </p:cNvPr>
          <p:cNvSpPr>
            <a:spLocks noGrp="1"/>
          </p:cNvSpPr>
          <p:nvPr>
            <p:ph idx="1"/>
          </p:nvPr>
        </p:nvSpPr>
        <p:spPr>
          <a:xfrm>
            <a:off x="587829" y="1940670"/>
            <a:ext cx="10786186" cy="4917330"/>
          </a:xfrm>
        </p:spPr>
        <p:txBody>
          <a:bodyPr>
            <a:normAutofit/>
          </a:bodyPr>
          <a:lstStyle/>
          <a:p>
            <a:pPr algn="just">
              <a:lnSpc>
                <a:spcPct val="150000"/>
              </a:lnSpc>
            </a:pPr>
            <a:r>
              <a:rPr lang="en-US" sz="2400" dirty="0">
                <a:latin typeface="Times New Roman" panose="02020603050405020304" pitchFamily="18" charset="0"/>
                <a:cs typeface="Times New Roman" panose="02020603050405020304" pitchFamily="18" charset="0"/>
              </a:rPr>
              <a:t>Sales and revenue analysis.</a:t>
            </a:r>
          </a:p>
          <a:p>
            <a:pPr algn="just">
              <a:lnSpc>
                <a:spcPct val="150000"/>
              </a:lnSpc>
            </a:pPr>
            <a:r>
              <a:rPr lang="en-US" sz="2400" dirty="0">
                <a:latin typeface="Times New Roman" panose="02020603050405020304" pitchFamily="18" charset="0"/>
                <a:cs typeface="Times New Roman" panose="02020603050405020304" pitchFamily="18" charset="0"/>
              </a:rPr>
              <a:t>Customer behavior and segmentation analysis.</a:t>
            </a:r>
          </a:p>
          <a:p>
            <a:pPr algn="just">
              <a:lnSpc>
                <a:spcPct val="150000"/>
              </a:lnSpc>
            </a:pPr>
            <a:r>
              <a:rPr lang="en-US" sz="2400" dirty="0">
                <a:latin typeface="Times New Roman" panose="02020603050405020304" pitchFamily="18" charset="0"/>
                <a:cs typeface="Times New Roman" panose="02020603050405020304" pitchFamily="18" charset="0"/>
              </a:rPr>
              <a:t>Financial performance monitoring.</a:t>
            </a:r>
          </a:p>
          <a:p>
            <a:pPr algn="just">
              <a:lnSpc>
                <a:spcPct val="150000"/>
              </a:lnSpc>
            </a:pPr>
            <a:r>
              <a:rPr lang="en-US" sz="2400" dirty="0">
                <a:latin typeface="Times New Roman" panose="02020603050405020304" pitchFamily="18" charset="0"/>
                <a:cs typeface="Times New Roman" panose="02020603050405020304" pitchFamily="18" charset="0"/>
              </a:rPr>
              <a:t>Inventory and supply chain management.</a:t>
            </a:r>
          </a:p>
          <a:p>
            <a:pPr algn="just">
              <a:lnSpc>
                <a:spcPct val="150000"/>
              </a:lnSpc>
            </a:pPr>
            <a:r>
              <a:rPr lang="en-US" sz="2400" dirty="0">
                <a:latin typeface="Times New Roman" panose="02020603050405020304" pitchFamily="18" charset="0"/>
                <a:cs typeface="Times New Roman" panose="02020603050405020304" pitchFamily="18" charset="0"/>
              </a:rPr>
              <a:t>Marketing campaign performance analysis.</a:t>
            </a:r>
          </a:p>
          <a:p>
            <a:pPr algn="just">
              <a:lnSpc>
                <a:spcPct val="150000"/>
              </a:lnSpc>
            </a:pPr>
            <a:r>
              <a:rPr lang="en-US" sz="2400" dirty="0">
                <a:latin typeface="Times New Roman" panose="02020603050405020304" pitchFamily="18" charset="0"/>
                <a:cs typeface="Times New Roman" panose="02020603050405020304" pitchFamily="18" charset="0"/>
              </a:rPr>
              <a:t>Management reporting and strategic planning.</a:t>
            </a:r>
          </a:p>
          <a:p>
            <a:pPr algn="just">
              <a:lnSpc>
                <a:spcPct val="150000"/>
              </a:lnSpc>
            </a:pPr>
            <a:endParaRPr lang="en-US" sz="2400" dirty="0">
              <a:latin typeface="Times New Roman" panose="02020603050405020304" pitchFamily="18" charset="0"/>
              <a:cs typeface="Times New Roman" panose="02020603050405020304" pitchFamily="18" charset="0"/>
            </a:endParaRPr>
          </a:p>
          <a:p>
            <a:pPr algn="just">
              <a:lnSpc>
                <a:spcPct val="150000"/>
              </a:lnSpc>
            </a:pPr>
            <a:endParaRPr lang="en-US"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F678A4F-61C5-3BE1-D53A-1C0B5C2F872E}"/>
              </a:ext>
            </a:extLst>
          </p:cNvPr>
          <p:cNvPicPr>
            <a:picLocks noChangeAspect="1"/>
          </p:cNvPicPr>
          <p:nvPr/>
        </p:nvPicPr>
        <p:blipFill>
          <a:blip r:embed="rId2"/>
          <a:stretch>
            <a:fillRect/>
          </a:stretch>
        </p:blipFill>
        <p:spPr>
          <a:xfrm>
            <a:off x="587829" y="318993"/>
            <a:ext cx="1133954" cy="1505843"/>
          </a:xfrm>
          <a:prstGeom prst="rect">
            <a:avLst/>
          </a:prstGeom>
        </p:spPr>
      </p:pic>
      <p:pic>
        <p:nvPicPr>
          <p:cNvPr id="5" name="Picture 4">
            <a:extLst>
              <a:ext uri="{FF2B5EF4-FFF2-40B4-BE49-F238E27FC236}">
                <a16:creationId xmlns:a16="http://schemas.microsoft.com/office/drawing/2014/main" id="{4C24CCE7-D330-0DE2-EEAF-921F4FD3E611}"/>
              </a:ext>
            </a:extLst>
          </p:cNvPr>
          <p:cNvPicPr>
            <a:picLocks noChangeAspect="1"/>
          </p:cNvPicPr>
          <p:nvPr/>
        </p:nvPicPr>
        <p:blipFill>
          <a:blip r:embed="rId3"/>
          <a:stretch>
            <a:fillRect/>
          </a:stretch>
        </p:blipFill>
        <p:spPr>
          <a:xfrm>
            <a:off x="9952012" y="318993"/>
            <a:ext cx="1652159" cy="1621677"/>
          </a:xfrm>
          <a:prstGeom prst="rect">
            <a:avLst/>
          </a:prstGeom>
        </p:spPr>
      </p:pic>
    </p:spTree>
    <p:extLst>
      <p:ext uri="{BB962C8B-B14F-4D97-AF65-F5344CB8AC3E}">
        <p14:creationId xmlns:p14="http://schemas.microsoft.com/office/powerpoint/2010/main" val="783790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B29D1-FB45-554D-E59E-EEFA314761AF}"/>
              </a:ext>
            </a:extLst>
          </p:cNvPr>
          <p:cNvSpPr>
            <a:spLocks noGrp="1"/>
          </p:cNvSpPr>
          <p:nvPr>
            <p:ph type="title"/>
          </p:nvPr>
        </p:nvSpPr>
        <p:spPr>
          <a:xfrm>
            <a:off x="492649" y="485192"/>
            <a:ext cx="11206702" cy="802432"/>
          </a:xfrm>
        </p:spPr>
        <p:txBody>
          <a:bodyPr>
            <a:normAutofit/>
          </a:bodyPr>
          <a:lstStyle/>
          <a:p>
            <a:r>
              <a:rPr lang="en-US" sz="3600" dirty="0">
                <a:latin typeface="Times New Roman" panose="02020603050405020304" pitchFamily="18" charset="0"/>
                <a:cs typeface="Times New Roman" panose="02020603050405020304" pitchFamily="18" charset="0"/>
              </a:rPr>
              <a:t>                                Future Scope </a:t>
            </a:r>
          </a:p>
        </p:txBody>
      </p:sp>
      <p:sp>
        <p:nvSpPr>
          <p:cNvPr id="3" name="Content Placeholder 2">
            <a:extLst>
              <a:ext uri="{FF2B5EF4-FFF2-40B4-BE49-F238E27FC236}">
                <a16:creationId xmlns:a16="http://schemas.microsoft.com/office/drawing/2014/main" id="{93BBFED3-C25F-777F-CEF5-633413E7A51C}"/>
              </a:ext>
            </a:extLst>
          </p:cNvPr>
          <p:cNvSpPr>
            <a:spLocks noGrp="1"/>
          </p:cNvSpPr>
          <p:nvPr>
            <p:ph idx="1"/>
          </p:nvPr>
        </p:nvSpPr>
        <p:spPr>
          <a:xfrm>
            <a:off x="492649" y="1759829"/>
            <a:ext cx="10892252" cy="5337110"/>
          </a:xfrm>
        </p:spPr>
        <p:txBody>
          <a:bodyPr>
            <a:normAutofit/>
          </a:bodyPr>
          <a:lstStyle/>
          <a:p>
            <a:pPr algn="just">
              <a:lnSpc>
                <a:spcPct val="150000"/>
              </a:lnSpc>
            </a:pPr>
            <a:r>
              <a:rPr lang="en-US" dirty="0">
                <a:latin typeface="Times New Roman" panose="02020603050405020304" pitchFamily="18" charset="0"/>
                <a:cs typeface="Times New Roman" panose="02020603050405020304" pitchFamily="18" charset="0"/>
              </a:rPr>
              <a:t>Integration with real-time data sources.</a:t>
            </a:r>
          </a:p>
          <a:p>
            <a:pPr algn="just">
              <a:lnSpc>
                <a:spcPct val="150000"/>
              </a:lnSpc>
            </a:pPr>
            <a:r>
              <a:rPr lang="en-US" dirty="0">
                <a:latin typeface="Times New Roman" panose="02020603050405020304" pitchFamily="18" charset="0"/>
                <a:cs typeface="Times New Roman" panose="02020603050405020304" pitchFamily="18" charset="0"/>
              </a:rPr>
              <a:t>Incorporation of machine learning for predictive analytics.</a:t>
            </a:r>
          </a:p>
          <a:p>
            <a:pPr algn="just">
              <a:lnSpc>
                <a:spcPct val="150000"/>
              </a:lnSpc>
            </a:pPr>
            <a:r>
              <a:rPr lang="en-US" dirty="0">
                <a:latin typeface="Times New Roman" panose="02020603050405020304" pitchFamily="18" charset="0"/>
                <a:cs typeface="Times New Roman" panose="02020603050405020304" pitchFamily="18" charset="0"/>
              </a:rPr>
              <a:t>Cloud-based BI solutions for scalability.</a:t>
            </a:r>
          </a:p>
          <a:p>
            <a:pPr algn="just">
              <a:lnSpc>
                <a:spcPct val="150000"/>
              </a:lnSpc>
            </a:pPr>
            <a:r>
              <a:rPr lang="en-US" dirty="0">
                <a:latin typeface="Times New Roman" panose="02020603050405020304" pitchFamily="18" charset="0"/>
                <a:cs typeface="Times New Roman" panose="02020603050405020304" pitchFamily="18" charset="0"/>
              </a:rPr>
              <a:t>Advanced interactive dashboards.</a:t>
            </a:r>
          </a:p>
          <a:p>
            <a:pPr algn="just">
              <a:lnSpc>
                <a:spcPct val="150000"/>
              </a:lnSpc>
            </a:pPr>
            <a:r>
              <a:rPr lang="en-US" dirty="0">
                <a:latin typeface="Times New Roman" panose="02020603050405020304" pitchFamily="18" charset="0"/>
                <a:cs typeface="Times New Roman" panose="02020603050405020304" pitchFamily="18" charset="0"/>
              </a:rPr>
              <a:t>Integration with big data technologies.</a:t>
            </a:r>
          </a:p>
          <a:p>
            <a:pPr algn="just">
              <a:lnSpc>
                <a:spcPct val="150000"/>
              </a:lnSpc>
            </a:pPr>
            <a:r>
              <a:rPr lang="en-US" dirty="0">
                <a:latin typeface="Times New Roman" panose="02020603050405020304" pitchFamily="18" charset="0"/>
                <a:cs typeface="Times New Roman" panose="02020603050405020304" pitchFamily="18" charset="0"/>
              </a:rPr>
              <a:t>Mobile-friendly BI dashboards.</a:t>
            </a:r>
          </a:p>
        </p:txBody>
      </p:sp>
      <p:pic>
        <p:nvPicPr>
          <p:cNvPr id="4" name="Picture 3">
            <a:extLst>
              <a:ext uri="{FF2B5EF4-FFF2-40B4-BE49-F238E27FC236}">
                <a16:creationId xmlns:a16="http://schemas.microsoft.com/office/drawing/2014/main" id="{73F06140-642B-0CB6-D54D-4C1DCD9A50DA}"/>
              </a:ext>
            </a:extLst>
          </p:cNvPr>
          <p:cNvPicPr>
            <a:picLocks noChangeAspect="1"/>
          </p:cNvPicPr>
          <p:nvPr/>
        </p:nvPicPr>
        <p:blipFill>
          <a:blip r:embed="rId2"/>
          <a:stretch>
            <a:fillRect/>
          </a:stretch>
        </p:blipFill>
        <p:spPr>
          <a:xfrm>
            <a:off x="492649" y="196068"/>
            <a:ext cx="1133954" cy="1505843"/>
          </a:xfrm>
          <a:prstGeom prst="rect">
            <a:avLst/>
          </a:prstGeom>
        </p:spPr>
      </p:pic>
      <p:pic>
        <p:nvPicPr>
          <p:cNvPr id="5" name="Picture 4">
            <a:extLst>
              <a:ext uri="{FF2B5EF4-FFF2-40B4-BE49-F238E27FC236}">
                <a16:creationId xmlns:a16="http://schemas.microsoft.com/office/drawing/2014/main" id="{D2D80F14-0AE2-E783-3511-72CB1EA5D582}"/>
              </a:ext>
            </a:extLst>
          </p:cNvPr>
          <p:cNvPicPr>
            <a:picLocks noChangeAspect="1"/>
          </p:cNvPicPr>
          <p:nvPr/>
        </p:nvPicPr>
        <p:blipFill>
          <a:blip r:embed="rId3"/>
          <a:stretch>
            <a:fillRect/>
          </a:stretch>
        </p:blipFill>
        <p:spPr>
          <a:xfrm>
            <a:off x="10047192" y="138152"/>
            <a:ext cx="1652159" cy="1621677"/>
          </a:xfrm>
          <a:prstGeom prst="rect">
            <a:avLst/>
          </a:prstGeom>
        </p:spPr>
      </p:pic>
    </p:spTree>
    <p:extLst>
      <p:ext uri="{BB962C8B-B14F-4D97-AF65-F5344CB8AC3E}">
        <p14:creationId xmlns:p14="http://schemas.microsoft.com/office/powerpoint/2010/main" val="1192057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8FD7B-E414-B17B-4FB7-22A5DB4E812F}"/>
              </a:ext>
            </a:extLst>
          </p:cNvPr>
          <p:cNvSpPr>
            <a:spLocks noGrp="1"/>
          </p:cNvSpPr>
          <p:nvPr>
            <p:ph type="title"/>
          </p:nvPr>
        </p:nvSpPr>
        <p:spPr>
          <a:xfrm>
            <a:off x="584718" y="559837"/>
            <a:ext cx="11022564" cy="802432"/>
          </a:xfrm>
        </p:spPr>
        <p:txBody>
          <a:bodyPr>
            <a:normAutofit/>
          </a:bodyPr>
          <a:lstStyle/>
          <a:p>
            <a:r>
              <a:rPr lang="en-US" sz="3600" dirty="0">
                <a:latin typeface="Times New Roman" panose="02020603050405020304" pitchFamily="18" charset="0"/>
                <a:cs typeface="Times New Roman" panose="02020603050405020304" pitchFamily="18" charset="0"/>
              </a:rPr>
              <a:t>                           Results &amp; Discussion</a:t>
            </a:r>
          </a:p>
        </p:txBody>
      </p:sp>
      <p:sp>
        <p:nvSpPr>
          <p:cNvPr id="3" name="Content Placeholder 2">
            <a:extLst>
              <a:ext uri="{FF2B5EF4-FFF2-40B4-BE49-F238E27FC236}">
                <a16:creationId xmlns:a16="http://schemas.microsoft.com/office/drawing/2014/main" id="{16DE5B55-0F2E-A015-8411-937C134E4CCB}"/>
              </a:ext>
            </a:extLst>
          </p:cNvPr>
          <p:cNvSpPr>
            <a:spLocks noGrp="1"/>
          </p:cNvSpPr>
          <p:nvPr>
            <p:ph idx="1"/>
          </p:nvPr>
        </p:nvSpPr>
        <p:spPr>
          <a:xfrm>
            <a:off x="584718" y="2155274"/>
            <a:ext cx="10863944" cy="4991975"/>
          </a:xfrm>
        </p:spPr>
        <p:txBody>
          <a:bodyPr>
            <a:normAutofit/>
          </a:bodyPr>
          <a:lstStyle/>
          <a:p>
            <a:pPr algn="just">
              <a:lnSpc>
                <a:spcPct val="150000"/>
              </a:lnSpc>
            </a:pPr>
            <a:r>
              <a:rPr lang="en-US" sz="2400" dirty="0">
                <a:latin typeface="Times New Roman" panose="02020603050405020304" pitchFamily="18" charset="0"/>
                <a:cs typeface="Times New Roman" panose="02020603050405020304" pitchFamily="18" charset="0"/>
              </a:rPr>
              <a:t>Clean and structured business datasets are obtained.</a:t>
            </a:r>
          </a:p>
          <a:p>
            <a:pPr algn="just">
              <a:lnSpc>
                <a:spcPct val="150000"/>
              </a:lnSpc>
            </a:pPr>
            <a:r>
              <a:rPr lang="en-US" sz="2400" dirty="0">
                <a:latin typeface="Times New Roman" panose="02020603050405020304" pitchFamily="18" charset="0"/>
                <a:cs typeface="Times New Roman" panose="02020603050405020304" pitchFamily="18" charset="0"/>
              </a:rPr>
              <a:t>Key business metrics and trends are clearly identified.</a:t>
            </a:r>
          </a:p>
          <a:p>
            <a:pPr algn="just">
              <a:lnSpc>
                <a:spcPct val="150000"/>
              </a:lnSpc>
            </a:pPr>
            <a:r>
              <a:rPr lang="en-US" sz="2400" dirty="0">
                <a:latin typeface="Times New Roman" panose="02020603050405020304" pitchFamily="18" charset="0"/>
                <a:cs typeface="Times New Roman" panose="02020603050405020304" pitchFamily="18" charset="0"/>
              </a:rPr>
              <a:t>Interactive visualizations improve data interpretation.</a:t>
            </a:r>
          </a:p>
          <a:p>
            <a:pPr algn="just">
              <a:lnSpc>
                <a:spcPct val="150000"/>
              </a:lnSpc>
            </a:pPr>
            <a:r>
              <a:rPr lang="en-US" sz="2400" dirty="0">
                <a:latin typeface="Times New Roman" panose="02020603050405020304" pitchFamily="18" charset="0"/>
                <a:cs typeface="Times New Roman" panose="02020603050405020304" pitchFamily="18" charset="0"/>
              </a:rPr>
              <a:t>Faster and more accurate business decisions are enabled.</a:t>
            </a:r>
          </a:p>
          <a:p>
            <a:pPr algn="just">
              <a:lnSpc>
                <a:spcPct val="150000"/>
              </a:lnSpc>
            </a:pPr>
            <a:r>
              <a:rPr lang="en-US" sz="2400" dirty="0">
                <a:latin typeface="Times New Roman" panose="02020603050405020304" pitchFamily="18" charset="0"/>
                <a:cs typeface="Times New Roman" panose="02020603050405020304" pitchFamily="18" charset="0"/>
              </a:rPr>
              <a:t>Improved understanding of organizational performance.</a:t>
            </a:r>
          </a:p>
          <a:p>
            <a:pPr algn="just">
              <a:lnSpc>
                <a:spcPct val="150000"/>
              </a:lnSpc>
            </a:pPr>
            <a:endParaRPr lang="en-US" sz="2400" dirty="0">
              <a:latin typeface="Times New Roman" panose="02020603050405020304" pitchFamily="18" charset="0"/>
              <a:cs typeface="Times New Roman" panose="02020603050405020304" pitchFamily="18" charset="0"/>
            </a:endParaRPr>
          </a:p>
          <a:p>
            <a:pPr algn="just">
              <a:lnSpc>
                <a:spcPct val="150000"/>
              </a:lnSpc>
            </a:pPr>
            <a:endParaRPr lang="en-US"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AB10B92-E2AD-98FD-EA53-A835C2105EC7}"/>
              </a:ext>
            </a:extLst>
          </p:cNvPr>
          <p:cNvPicPr>
            <a:picLocks noChangeAspect="1"/>
          </p:cNvPicPr>
          <p:nvPr/>
        </p:nvPicPr>
        <p:blipFill>
          <a:blip r:embed="rId2"/>
          <a:stretch>
            <a:fillRect/>
          </a:stretch>
        </p:blipFill>
        <p:spPr>
          <a:xfrm>
            <a:off x="584718" y="272647"/>
            <a:ext cx="1133954" cy="1505843"/>
          </a:xfrm>
          <a:prstGeom prst="rect">
            <a:avLst/>
          </a:prstGeom>
        </p:spPr>
      </p:pic>
      <p:pic>
        <p:nvPicPr>
          <p:cNvPr id="5" name="Picture 4">
            <a:extLst>
              <a:ext uri="{FF2B5EF4-FFF2-40B4-BE49-F238E27FC236}">
                <a16:creationId xmlns:a16="http://schemas.microsoft.com/office/drawing/2014/main" id="{C892226E-8EF1-9727-36D7-E2E3106774B1}"/>
              </a:ext>
            </a:extLst>
          </p:cNvPr>
          <p:cNvPicPr>
            <a:picLocks noChangeAspect="1"/>
          </p:cNvPicPr>
          <p:nvPr/>
        </p:nvPicPr>
        <p:blipFill>
          <a:blip r:embed="rId3"/>
          <a:stretch>
            <a:fillRect/>
          </a:stretch>
        </p:blipFill>
        <p:spPr>
          <a:xfrm>
            <a:off x="9955123" y="272647"/>
            <a:ext cx="1652159" cy="1621677"/>
          </a:xfrm>
          <a:prstGeom prst="rect">
            <a:avLst/>
          </a:prstGeom>
        </p:spPr>
      </p:pic>
    </p:spTree>
    <p:extLst>
      <p:ext uri="{BB962C8B-B14F-4D97-AF65-F5344CB8AC3E}">
        <p14:creationId xmlns:p14="http://schemas.microsoft.com/office/powerpoint/2010/main" val="34109107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5AF7B-B328-D8E8-CA49-06154BBD13BC}"/>
              </a:ext>
            </a:extLst>
          </p:cNvPr>
          <p:cNvSpPr>
            <a:spLocks noGrp="1"/>
          </p:cNvSpPr>
          <p:nvPr>
            <p:ph type="title"/>
          </p:nvPr>
        </p:nvSpPr>
        <p:spPr>
          <a:xfrm>
            <a:off x="612710" y="531845"/>
            <a:ext cx="10966580" cy="793102"/>
          </a:xfrm>
        </p:spPr>
        <p:txBody>
          <a:bodyPr>
            <a:normAutofit/>
          </a:bodyPr>
          <a:lstStyle/>
          <a:p>
            <a:r>
              <a:rPr lang="en-US" sz="3600" dirty="0">
                <a:latin typeface="Times New Roman" panose="02020603050405020304" pitchFamily="18" charset="0"/>
                <a:cs typeface="Times New Roman" panose="02020603050405020304" pitchFamily="18" charset="0"/>
              </a:rPr>
              <a:t>                                 Conclusion</a:t>
            </a:r>
          </a:p>
        </p:txBody>
      </p:sp>
      <p:sp>
        <p:nvSpPr>
          <p:cNvPr id="3" name="Content Placeholder 2">
            <a:extLst>
              <a:ext uri="{FF2B5EF4-FFF2-40B4-BE49-F238E27FC236}">
                <a16:creationId xmlns:a16="http://schemas.microsoft.com/office/drawing/2014/main" id="{AFFCB576-00BA-319D-59FF-21D09341A84D}"/>
              </a:ext>
            </a:extLst>
          </p:cNvPr>
          <p:cNvSpPr>
            <a:spLocks noGrp="1"/>
          </p:cNvSpPr>
          <p:nvPr>
            <p:ph idx="1"/>
          </p:nvPr>
        </p:nvSpPr>
        <p:spPr>
          <a:xfrm>
            <a:off x="612710" y="1744727"/>
            <a:ext cx="10584023" cy="5113273"/>
          </a:xfrm>
        </p:spPr>
        <p:txBody>
          <a:bodyPr>
            <a:normAutofit/>
          </a:bodyPr>
          <a:lstStyle/>
          <a:p>
            <a:pPr algn="just">
              <a:lnSpc>
                <a:spcPct val="150000"/>
              </a:lnSpc>
            </a:pPr>
            <a:r>
              <a:rPr lang="en-US" sz="2400" dirty="0">
                <a:latin typeface="Times New Roman" panose="02020603050405020304" pitchFamily="18" charset="0"/>
                <a:cs typeface="Times New Roman" panose="02020603050405020304" pitchFamily="18" charset="0"/>
              </a:rPr>
              <a:t>The project successfully demonstrates effective data handling techniques.</a:t>
            </a:r>
          </a:p>
          <a:p>
            <a:pPr algn="just">
              <a:lnSpc>
                <a:spcPct val="150000"/>
              </a:lnSpc>
            </a:pPr>
            <a:r>
              <a:rPr lang="en-US" sz="2400" dirty="0">
                <a:latin typeface="Times New Roman" panose="02020603050405020304" pitchFamily="18" charset="0"/>
                <a:cs typeface="Times New Roman" panose="02020603050405020304" pitchFamily="18" charset="0"/>
              </a:rPr>
              <a:t>Visualization simplifies complex business data into actionable insights.</a:t>
            </a:r>
          </a:p>
          <a:p>
            <a:pPr algn="just">
              <a:lnSpc>
                <a:spcPct val="150000"/>
              </a:lnSpc>
            </a:pPr>
            <a:r>
              <a:rPr lang="en-US" sz="2400" dirty="0">
                <a:latin typeface="Times New Roman" panose="02020603050405020304" pitchFamily="18" charset="0"/>
                <a:cs typeface="Times New Roman" panose="02020603050405020304" pitchFamily="18" charset="0"/>
              </a:rPr>
              <a:t>The system improves accuracy, speed, and quality of decision making.</a:t>
            </a:r>
          </a:p>
          <a:p>
            <a:pPr algn="just">
              <a:lnSpc>
                <a:spcPct val="150000"/>
              </a:lnSpc>
            </a:pPr>
            <a:r>
              <a:rPr lang="en-US" sz="2400" dirty="0">
                <a:latin typeface="Times New Roman" panose="02020603050405020304" pitchFamily="18" charset="0"/>
                <a:cs typeface="Times New Roman" panose="02020603050405020304" pitchFamily="18" charset="0"/>
              </a:rPr>
              <a:t>Data handling and visualization together form the foundation of business intelligence.</a:t>
            </a:r>
          </a:p>
          <a:p>
            <a:pPr algn="just">
              <a:lnSpc>
                <a:spcPct val="150000"/>
              </a:lnSpc>
            </a:pPr>
            <a:r>
              <a:rPr lang="en-US" sz="2400" dirty="0">
                <a:latin typeface="Times New Roman" panose="02020603050405020304" pitchFamily="18" charset="0"/>
                <a:cs typeface="Times New Roman" panose="02020603050405020304" pitchFamily="18" charset="0"/>
              </a:rPr>
              <a:t>The project provides a scalable and practical solution for real-world business analytics.</a:t>
            </a:r>
          </a:p>
          <a:p>
            <a:pPr algn="just">
              <a:lnSpc>
                <a:spcPct val="150000"/>
              </a:lnSpc>
            </a:pPr>
            <a:endParaRPr lang="en-US" sz="2400" dirty="0">
              <a:latin typeface="Times New Roman" panose="02020603050405020304" pitchFamily="18" charset="0"/>
              <a:cs typeface="Times New Roman" panose="02020603050405020304" pitchFamily="18" charset="0"/>
            </a:endParaRPr>
          </a:p>
          <a:p>
            <a:pPr algn="just">
              <a:lnSpc>
                <a:spcPct val="150000"/>
              </a:lnSpc>
            </a:pPr>
            <a:endParaRPr lang="en-US"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893DFD9-05B6-DDC3-D948-750ED789CFF6}"/>
              </a:ext>
            </a:extLst>
          </p:cNvPr>
          <p:cNvPicPr>
            <a:picLocks noChangeAspect="1"/>
          </p:cNvPicPr>
          <p:nvPr/>
        </p:nvPicPr>
        <p:blipFill>
          <a:blip r:embed="rId2"/>
          <a:stretch>
            <a:fillRect/>
          </a:stretch>
        </p:blipFill>
        <p:spPr>
          <a:xfrm>
            <a:off x="612710" y="238884"/>
            <a:ext cx="1133954" cy="1505843"/>
          </a:xfrm>
          <a:prstGeom prst="rect">
            <a:avLst/>
          </a:prstGeom>
        </p:spPr>
      </p:pic>
      <p:pic>
        <p:nvPicPr>
          <p:cNvPr id="5" name="Picture 4">
            <a:extLst>
              <a:ext uri="{FF2B5EF4-FFF2-40B4-BE49-F238E27FC236}">
                <a16:creationId xmlns:a16="http://schemas.microsoft.com/office/drawing/2014/main" id="{5F25F17A-C649-95A6-E9FF-DB817C672BD3}"/>
              </a:ext>
            </a:extLst>
          </p:cNvPr>
          <p:cNvPicPr>
            <a:picLocks noChangeAspect="1"/>
          </p:cNvPicPr>
          <p:nvPr/>
        </p:nvPicPr>
        <p:blipFill>
          <a:blip r:embed="rId3"/>
          <a:stretch>
            <a:fillRect/>
          </a:stretch>
        </p:blipFill>
        <p:spPr>
          <a:xfrm>
            <a:off x="9927131" y="238884"/>
            <a:ext cx="1652159" cy="1621677"/>
          </a:xfrm>
          <a:prstGeom prst="rect">
            <a:avLst/>
          </a:prstGeom>
        </p:spPr>
      </p:pic>
    </p:spTree>
    <p:extLst>
      <p:ext uri="{BB962C8B-B14F-4D97-AF65-F5344CB8AC3E}">
        <p14:creationId xmlns:p14="http://schemas.microsoft.com/office/powerpoint/2010/main" val="35200816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DF510-02EC-737E-7461-D359F1882D79}"/>
              </a:ext>
            </a:extLst>
          </p:cNvPr>
          <p:cNvSpPr>
            <a:spLocks noGrp="1"/>
          </p:cNvSpPr>
          <p:nvPr>
            <p:ph type="title"/>
          </p:nvPr>
        </p:nvSpPr>
        <p:spPr>
          <a:xfrm>
            <a:off x="615817" y="485192"/>
            <a:ext cx="10960364" cy="802432"/>
          </a:xfrm>
        </p:spPr>
        <p:txBody>
          <a:bodyPr>
            <a:normAutofit/>
          </a:bodyPr>
          <a:lstStyle/>
          <a:p>
            <a:r>
              <a:rPr lang="en-US" sz="3600" dirty="0">
                <a:latin typeface="Times New Roman" panose="02020603050405020304" pitchFamily="18" charset="0"/>
                <a:cs typeface="Times New Roman" panose="02020603050405020304" pitchFamily="18" charset="0"/>
              </a:rPr>
              <a:t>                                 References</a:t>
            </a:r>
          </a:p>
        </p:txBody>
      </p:sp>
      <p:sp>
        <p:nvSpPr>
          <p:cNvPr id="3" name="Content Placeholder 2">
            <a:extLst>
              <a:ext uri="{FF2B5EF4-FFF2-40B4-BE49-F238E27FC236}">
                <a16:creationId xmlns:a16="http://schemas.microsoft.com/office/drawing/2014/main" id="{5FA13617-DA60-D740-CB74-8DD8B09B9512}"/>
              </a:ext>
            </a:extLst>
          </p:cNvPr>
          <p:cNvSpPr>
            <a:spLocks noGrp="1"/>
          </p:cNvSpPr>
          <p:nvPr>
            <p:ph idx="1"/>
          </p:nvPr>
        </p:nvSpPr>
        <p:spPr>
          <a:xfrm>
            <a:off x="615816" y="1642187"/>
            <a:ext cx="10823513" cy="5075951"/>
          </a:xfrm>
        </p:spPr>
        <p:txBody>
          <a:bodyPr>
            <a:normAutofit fontScale="85000" lnSpcReduction="20000"/>
          </a:bodyPr>
          <a:lstStyle/>
          <a:p>
            <a:pPr algn="just">
              <a:lnSpc>
                <a:spcPct val="170000"/>
              </a:lnSpc>
            </a:pPr>
            <a:r>
              <a:rPr lang="en-US" dirty="0">
                <a:latin typeface="Times New Roman" panose="02020603050405020304" pitchFamily="18" charset="0"/>
                <a:cs typeface="Times New Roman" panose="02020603050405020304" pitchFamily="18" charset="0"/>
              </a:rPr>
              <a:t>Han, J., </a:t>
            </a:r>
            <a:r>
              <a:rPr lang="en-US" dirty="0" err="1">
                <a:latin typeface="Times New Roman" panose="02020603050405020304" pitchFamily="18" charset="0"/>
                <a:cs typeface="Times New Roman" panose="02020603050405020304" pitchFamily="18" charset="0"/>
              </a:rPr>
              <a:t>Kamber</a:t>
            </a:r>
            <a:r>
              <a:rPr lang="en-US" dirty="0">
                <a:latin typeface="Times New Roman" panose="02020603050405020304" pitchFamily="18" charset="0"/>
                <a:cs typeface="Times New Roman" panose="02020603050405020304" pitchFamily="18" charset="0"/>
              </a:rPr>
              <a:t>, M., &amp; Pei, J., Data Mining: Concepts and Techniques, 3rd Edition, Morgan Kaufmann, 2012.</a:t>
            </a:r>
          </a:p>
          <a:p>
            <a:pPr algn="just">
              <a:lnSpc>
                <a:spcPct val="170000"/>
              </a:lnSpc>
            </a:pPr>
            <a:r>
              <a:rPr lang="en-US" dirty="0">
                <a:latin typeface="Times New Roman" panose="02020603050405020304" pitchFamily="18" charset="0"/>
                <a:cs typeface="Times New Roman" panose="02020603050405020304" pitchFamily="18" charset="0"/>
              </a:rPr>
              <a:t>Turban, E., Sharda, R., </a:t>
            </a:r>
            <a:r>
              <a:rPr lang="en-US" dirty="0" err="1">
                <a:latin typeface="Times New Roman" panose="02020603050405020304" pitchFamily="18" charset="0"/>
                <a:cs typeface="Times New Roman" panose="02020603050405020304" pitchFamily="18" charset="0"/>
              </a:rPr>
              <a:t>Delen</a:t>
            </a:r>
            <a:r>
              <a:rPr lang="en-US" dirty="0">
                <a:latin typeface="Times New Roman" panose="02020603050405020304" pitchFamily="18" charset="0"/>
                <a:cs typeface="Times New Roman" panose="02020603050405020304" pitchFamily="18" charset="0"/>
              </a:rPr>
              <a:t>, D., &amp; King, D., Business Intelligence: A Managerial Perspective on Analytics, Pearson Education, 2018.</a:t>
            </a:r>
          </a:p>
          <a:p>
            <a:pPr algn="just">
              <a:lnSpc>
                <a:spcPct val="170000"/>
              </a:lnSpc>
            </a:pPr>
            <a:r>
              <a:rPr lang="en-US" dirty="0">
                <a:latin typeface="Times New Roman" panose="02020603050405020304" pitchFamily="18" charset="0"/>
                <a:cs typeface="Times New Roman" panose="02020603050405020304" pitchFamily="18" charset="0"/>
              </a:rPr>
              <a:t>Few, S., Information Dashboard Design: Displaying Data for At-a-Glance Monitoring, Analytics Press, 2013.</a:t>
            </a:r>
          </a:p>
          <a:p>
            <a:pPr algn="just">
              <a:lnSpc>
                <a:spcPct val="170000"/>
              </a:lnSpc>
            </a:pPr>
            <a:r>
              <a:rPr lang="en-US" dirty="0">
                <a:latin typeface="Times New Roman" panose="02020603050405020304" pitchFamily="18" charset="0"/>
                <a:cs typeface="Times New Roman" panose="02020603050405020304" pitchFamily="18" charset="0"/>
              </a:rPr>
              <a:t>Provost, F., &amp; Fawcett, T., Data Science for Business, O’Reilly Media, 2013.</a:t>
            </a:r>
          </a:p>
          <a:p>
            <a:pPr algn="just">
              <a:lnSpc>
                <a:spcPct val="170000"/>
              </a:lnSpc>
            </a:pPr>
            <a:r>
              <a:rPr lang="en-US" dirty="0">
                <a:latin typeface="Times New Roman" panose="02020603050405020304" pitchFamily="18" charset="0"/>
                <a:cs typeface="Times New Roman" panose="02020603050405020304" pitchFamily="18" charset="0"/>
              </a:rPr>
              <a:t>Wickham, H., ggplot2: Elegant Graphics for Data Analysis, Springer, 2016.</a:t>
            </a:r>
          </a:p>
        </p:txBody>
      </p:sp>
      <p:pic>
        <p:nvPicPr>
          <p:cNvPr id="4" name="Picture 3">
            <a:extLst>
              <a:ext uri="{FF2B5EF4-FFF2-40B4-BE49-F238E27FC236}">
                <a16:creationId xmlns:a16="http://schemas.microsoft.com/office/drawing/2014/main" id="{7CFFFE8A-DA35-97DE-2DFF-520B5DE6F36C}"/>
              </a:ext>
            </a:extLst>
          </p:cNvPr>
          <p:cNvPicPr>
            <a:picLocks noChangeAspect="1"/>
          </p:cNvPicPr>
          <p:nvPr/>
        </p:nvPicPr>
        <p:blipFill>
          <a:blip r:embed="rId2"/>
          <a:stretch>
            <a:fillRect/>
          </a:stretch>
        </p:blipFill>
        <p:spPr>
          <a:xfrm>
            <a:off x="615816" y="197778"/>
            <a:ext cx="1133954" cy="1505843"/>
          </a:xfrm>
          <a:prstGeom prst="rect">
            <a:avLst/>
          </a:prstGeom>
        </p:spPr>
      </p:pic>
      <p:pic>
        <p:nvPicPr>
          <p:cNvPr id="5" name="Picture 4">
            <a:extLst>
              <a:ext uri="{FF2B5EF4-FFF2-40B4-BE49-F238E27FC236}">
                <a16:creationId xmlns:a16="http://schemas.microsoft.com/office/drawing/2014/main" id="{DB5708D2-FE2D-A45E-E800-205DF5B10332}"/>
              </a:ext>
            </a:extLst>
          </p:cNvPr>
          <p:cNvPicPr>
            <a:picLocks noChangeAspect="1"/>
          </p:cNvPicPr>
          <p:nvPr/>
        </p:nvPicPr>
        <p:blipFill>
          <a:blip r:embed="rId3"/>
          <a:stretch>
            <a:fillRect/>
          </a:stretch>
        </p:blipFill>
        <p:spPr>
          <a:xfrm>
            <a:off x="9924021" y="206086"/>
            <a:ext cx="1652159" cy="1621677"/>
          </a:xfrm>
          <a:prstGeom prst="rect">
            <a:avLst/>
          </a:prstGeom>
        </p:spPr>
      </p:pic>
    </p:spTree>
    <p:extLst>
      <p:ext uri="{BB962C8B-B14F-4D97-AF65-F5344CB8AC3E}">
        <p14:creationId xmlns:p14="http://schemas.microsoft.com/office/powerpoint/2010/main" val="1745743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241</TotalTime>
  <Words>765</Words>
  <Application>Microsoft Office PowerPoint</Application>
  <PresentationFormat>Widescreen</PresentationFormat>
  <Paragraphs>66</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Aptos Display</vt:lpstr>
      <vt:lpstr>Arial</vt:lpstr>
      <vt:lpstr>Times New Roman</vt:lpstr>
      <vt:lpstr>Office Theme</vt:lpstr>
      <vt:lpstr>       Data Handling and Visualization for Business Intelligence </vt:lpstr>
      <vt:lpstr>                                     Abstract </vt:lpstr>
      <vt:lpstr>                                Introduction </vt:lpstr>
      <vt:lpstr>                                  Objectives </vt:lpstr>
      <vt:lpstr>                             Problem Statement</vt:lpstr>
      <vt:lpstr>Module   Data Handling and Visualization for Business Intelligence</vt:lpstr>
      <vt:lpstr>                             Module Overview  </vt:lpstr>
      <vt:lpstr>System  Architecture </vt:lpstr>
      <vt:lpstr>                                      Output </vt:lpstr>
      <vt:lpstr>                                  Applications  </vt:lpstr>
      <vt:lpstr>                                Future Scope </vt:lpstr>
      <vt:lpstr>                           Results &amp; Discussion</vt:lpstr>
      <vt:lpstr>                                 Conclusion</vt:lpstr>
      <vt:lpstr>                                 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SAI VARSHITHA VEERAMACHANENI</dc:creator>
  <cp:lastModifiedBy>SAI VARSHITHA VEERAMACHANENI</cp:lastModifiedBy>
  <cp:revision>2</cp:revision>
  <dcterms:created xsi:type="dcterms:W3CDTF">2026-01-08T04:46:18Z</dcterms:created>
  <dcterms:modified xsi:type="dcterms:W3CDTF">2026-01-29T09:13:40Z</dcterms:modified>
</cp:coreProperties>
</file>